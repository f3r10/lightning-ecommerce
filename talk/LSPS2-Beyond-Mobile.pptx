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and the one-line pitch: accepting Lightning on a website today means either running your own node or trusting a custodian - mobile wallets solved this problem years ago, and this talk shows how to bring that same solution to web apps. Mention the project is open source (lightning-ecommerce) and that the talk mixes protocol explanation, live code, and a demo. Keep this to about 30 seconds - the budget is tight.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both existing options and why each is a real cost: self-hosting means you're an infrastructure operator before you've taken a single payment; custodial means you've reintroduced the trusted third party Bitcoin was built to remove. Point out that Phoenix and Mutiny users don't think about any of this - they open the app, receive a payment, and a channel just appears. That's Just-In-Time liquidity, production-proven on mobile for years. Hook: nobody built the web equivalent - until now. Target ~90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CLN and LND are great, but they're daemons you operate separately from your app, and neither ships LSPS2 out of the box - you'd build the client side yourself. Breez SDK is excellent but optimized for mobile wallets, and its default key-custody model (Greenlight) isn't what you want for a merchant-owned node. ldk-node is a Rust library you embed directly in your service - no separate process, no RPC boundary - and LSPS2 client support is native. Be upfront about the tradeoff: it's pre-1.0, so APIs shift between releases, but because it's Rust every breaking change surfaces as a compile error, not a silent runtime failure - pin a git rev and upgrade deliberately. Target ~3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LSPS2 rides on top of LSPS0, which is just a peer-messaging layer over an existing Lightning connection - no new sockets, no new transport, it's a message type on a connection you already have. The negotiation is exactly two round trips: get_info tells the client what the channel will cost, buy locks that price in and gets back a short channel ID that doesn't correspond to a real channel yet. That phantom SCID gets embedded as a route hint in the invoice the client hands to the payer - from the payer's perspective it looks like a completely normal channel to route through. Target ~3 minutes.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mechanic of the whole talk, so slow down here. The payment doesn't wait for the channel - the channel waits for the payment. The payer's wallet routes toward a route hint that points at a phantom SCID; from the payer's point of view this looks like any other channel.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LSP is now holding real value - the HTLC - as collateral, and it prepares (but does not broadcast) the funding transaction for a new channel to the merchant. Nothing has touched the chain yet, so there's no cost incurred if this payment never completes.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LSP controls the funding transaction and hasn't broadcast it, it can safely open a zero-conf anchor channel straight to the merchant's node. Both sides see ChannelPending immediately, then ChannelReady once the channel is usable end to end - all before anything is on-chain.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 live channel in place, the LSP forwards the originally-held HTLC to the merchant, minus its routing fee. The merchant's ldk-node instance fires PaymentReceived and reveals the payment preimage, which is the cryptographic proof that the payment actually happened.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now, with proof the channel is worth funding, does the LSP broadcast the funding transaction. Drive home the punchline: this inverts the usual order of 'provision liquidity, then hope someone pays' into 'get paid, then provision liquidity' - that's what makes zero-upfront-cost self-custody possible. Whole flow should land in about 3 minutes total across these five slides.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node-service is a small Axum HTTP service that sits in front of ldk-node - it exposes exactly two endpoints an application needs. Invoice creation is a single call, receive_via_jit_channel, which does the get_info/buy negotiation with the LSP under the hood so the caller never touches LSPS2 directly. Configuration is deliberately boring: numbered environment variables let you register multiple LSPs, and ldk-node's internal fee comparison picks the cheapest one at invoice time - no extra code required on our side. Target ~2 minutes.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entire multi-LSP setup - loop over your configured LSPs and call add_liquidity_source once for each, then build the node. ldk-node handles querying every registered LSP's fee schedule and choosing the cheapest one when an invoice is actually requested, so there's no comparison logic anywhere in our application code. The trailing boolean marks it as a JIT-channel-capable source. Keep the emphasis on how little code this 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next_event_async gives a typed, awaitable event stream instead of polling or callbacks - match on the variant and call event_handled to acknowledge it, which is how ldk-node knows it's safe to persist state and move on. The detail worth calling out: jit_channels_pending is a HashSet&lt;ChannelId&gt;, not a counter. If it were a counter, any PaymentReceived event - including a normal payment over a channel that already existed - would decrement it and could incorrectly clear the 'channel is opening' state. Keying by channel ID means only the specific pending channel gets removed when it becomes ready.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derives a synthetic opening_channel status by checking whether any channel is currently pending while the order itself is still marked pending - it's a cheap read of the same HashSet from the event-loop slide, not a new state machine. On the frontend, setChannelOpening only ever gets set true or false in these two places - that's deliberate, it's a sticky flag. Without it there'd be a visible gap between the channel becoming ready and the payment status flipping to succeeded, where the UI would flicker back to neutral before showing success.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from the last three slides - invoice creation, status polling, the opening_channel banner logic - is packaged behind this one component. A developer integrating Lightning payments into a Next.js app writes a description, an amount, and a success callback; they never touch LSPS2, never think about JIT channels, never manage polling intervals. That's the actual goal of the project: the JIT-channel complexity from the rest of this talk should be invisible to the application developer, the same way it's invisible to a Phoenix wallet user.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example app live: blurred premium content, a Pay button that generates an invoice and shows a QR code, then pay it from a CLI wallet to simulate a real payer. Narrate what's happening behind the scenes as it happens - the LSP is holding the HTLC, opening a zero-conf channel, and only broadcasting once the merchant node confirms - so the banner that appears is the opening_channel state from the earlier code slide made visible. Have a fallback recording ready in case of live-demo network issues. Target ~3 minutes.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BOLT12 is the natural next step but it's worth being precise about what it changes: it replaces per-payment invoice generation with a static offer the merchant publishes once, but the underlying JIT channel mechanism from earlier in the talk is untouched - that work is tracked upstream in rust-lightning PR #4463, which threads LSPS2 SCIDs through blinded paths. LSPS5 webhooks point toward an even more interesting future: a merchant node that doesn't need to run continuously, waking only when a webhook fires to claim a held payment. Ark interop isn't hypothetical - bark 0.3.0 can pay these BOLT11 invoices right now. Target ~1 minute.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throughline of the whole talk: JIT liquidity isn't a mobile-specific trick, it's a general protocol-level solution to the 'who provisions the channel' problem, and lightning-ecommerce is proof it drops cleanly into a standard Next.js app. Point people at the repo, mention it's genuinely usable today, not a proof of concept, and hand off to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0" y="1051560"/>
            <a:ext cx="12191695" cy="1188720"/>
          </a:xfrm>
          <a:prstGeom prst="rect">
            <a:avLst/>
          </a:prstGeom>
          <a:noFill/>
        </p:spPr>
        <p:txBody>
          <a:bodyPr wrap="square">
            <a:spAutoFit/>
          </a:bodyPr>
          <a:lstStyle/>
          <a:p>
            <a:pPr algn="ctr"/>
            <a:r>
              <a:rPr sz="8000" b="0" i="0">
                <a:solidFill>
                  <a:srgbClr val="F7931A"/>
                </a:solidFill>
                <a:latin typeface="Arial"/>
              </a:rPr>
              <a:t>⚡</a:t>
            </a:r>
          </a:p>
        </p:txBody>
      </p:sp>
      <p:sp>
        <p:nvSpPr>
          <p:cNvPr id="3" name="TextBox 2"/>
          <p:cNvSpPr txBox="1"/>
          <p:nvPr/>
        </p:nvSpPr>
        <p:spPr>
          <a:xfrm>
            <a:off x="914400" y="2514600"/>
            <a:ext cx="10362895" cy="914400"/>
          </a:xfrm>
          <a:prstGeom prst="rect">
            <a:avLst/>
          </a:prstGeom>
          <a:noFill/>
        </p:spPr>
        <p:txBody>
          <a:bodyPr wrap="square">
            <a:spAutoFit/>
          </a:bodyPr>
          <a:lstStyle/>
          <a:p>
            <a:pPr algn="ctr"/>
            <a:r>
              <a:rPr sz="4400" b="1" i="0">
                <a:solidFill>
                  <a:srgbClr val="F5F5F7"/>
                </a:solidFill>
                <a:latin typeface="Arial"/>
              </a:rPr>
              <a:t>LSPS2 Beyond Mobile</a:t>
            </a:r>
          </a:p>
        </p:txBody>
      </p:sp>
      <p:sp>
        <p:nvSpPr>
          <p:cNvPr id="4" name="TextBox 3"/>
          <p:cNvSpPr txBox="1"/>
          <p:nvPr/>
        </p:nvSpPr>
        <p:spPr>
          <a:xfrm>
            <a:off x="914400" y="3337560"/>
            <a:ext cx="10362895" cy="731520"/>
          </a:xfrm>
          <a:prstGeom prst="rect">
            <a:avLst/>
          </a:prstGeom>
          <a:noFill/>
        </p:spPr>
        <p:txBody>
          <a:bodyPr wrap="square">
            <a:spAutoFit/>
          </a:bodyPr>
          <a:lstStyle/>
          <a:p>
            <a:pPr algn="ctr"/>
            <a:r>
              <a:rPr sz="2100" b="0" i="0">
                <a:solidFill>
                  <a:srgbClr val="F7931A"/>
                </a:solidFill>
                <a:latin typeface="Arial"/>
              </a:rPr>
              <a:t>Building a Self-Custodial Lightning Checkout for the Web</a:t>
            </a:r>
          </a:p>
        </p:txBody>
      </p:sp>
      <p:sp>
        <p:nvSpPr>
          <p:cNvPr id="5" name="TextBox 4"/>
          <p:cNvSpPr txBox="1"/>
          <p:nvPr/>
        </p:nvSpPr>
        <p:spPr>
          <a:xfrm>
            <a:off x="914400" y="4343400"/>
            <a:ext cx="10362895" cy="548640"/>
          </a:xfrm>
          <a:prstGeom prst="rect">
            <a:avLst/>
          </a:prstGeom>
          <a:noFill/>
        </p:spPr>
        <p:txBody>
          <a:bodyPr wrap="square">
            <a:spAutoFit/>
          </a:bodyPr>
          <a:lstStyle/>
          <a:p>
            <a:pPr algn="ctr"/>
            <a:r>
              <a:rPr sz="1500" b="0" i="0">
                <a:solidFill>
                  <a:srgbClr val="8B92A6"/>
                </a:solidFill>
                <a:latin typeface="Arial"/>
              </a:rPr>
              <a:t>Bringing JIT channel liquidity — ldk-node + LSPS2 (bLIP-52) — to any Next.js app</a:t>
            </a:r>
          </a:p>
        </p:txBody>
      </p:sp>
      <p:sp>
        <p:nvSpPr>
          <p:cNvPr id="6" name="TextBox 5"/>
          <p:cNvSpPr txBox="1"/>
          <p:nvPr/>
        </p:nvSpPr>
        <p:spPr>
          <a:xfrm>
            <a:off x="914400" y="5989320"/>
            <a:ext cx="10362895" cy="365760"/>
          </a:xfrm>
          <a:prstGeom prst="rect">
            <a:avLst/>
          </a:prstGeom>
          <a:noFill/>
        </p:spPr>
        <p:txBody>
          <a:bodyPr wrap="square">
            <a:spAutoFit/>
          </a:bodyPr>
          <a:lstStyle/>
          <a:p>
            <a:pPr algn="ctr"/>
            <a:r>
              <a:rPr sz="1300" b="0" i="0">
                <a:solidFill>
                  <a:srgbClr val="8B92A6"/>
                </a:solidFill>
                <a:latin typeface="Arial"/>
              </a:rPr>
              <a:t>github.com/f3r10/lightning-ecommerce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548640" y="201168"/>
            <a:ext cx="10515600" cy="365760"/>
          </a:xfrm>
          <a:prstGeom prst="rect">
            <a:avLst/>
          </a:prstGeom>
          <a:noFill/>
        </p:spPr>
        <p:txBody>
          <a:bodyPr wrap="square">
            <a:spAutoFit/>
          </a:bodyPr>
          <a:lstStyle/>
          <a:p>
            <a:pPr algn="l"/>
            <a:r>
              <a:rPr sz="1300" b="1" i="0">
                <a:solidFill>
                  <a:srgbClr val="F7931A"/>
                </a:solidFill>
                <a:latin typeface="Arial"/>
              </a:rPr>
              <a:t>THE PROBLEM</a:t>
            </a:r>
          </a:p>
        </p:txBody>
      </p:sp>
      <p:sp>
        <p:nvSpPr>
          <p:cNvPr id="3" name="TextBox 2"/>
          <p:cNvSpPr txBox="1"/>
          <p:nvPr/>
        </p:nvSpPr>
        <p:spPr>
          <a:xfrm>
            <a:off x="548640" y="502920"/>
            <a:ext cx="11064240" cy="777240"/>
          </a:xfrm>
          <a:prstGeom prst="rect">
            <a:avLst/>
          </a:prstGeom>
          <a:noFill/>
        </p:spPr>
        <p:txBody>
          <a:bodyPr wrap="square">
            <a:spAutoFit/>
          </a:bodyPr>
          <a:lstStyle/>
          <a:p>
            <a:pPr algn="l"/>
            <a:r>
              <a:rPr sz="3000" b="1" i="0">
                <a:solidFill>
                  <a:srgbClr val="F5F5F7"/>
                </a:solidFill>
                <a:latin typeface="Arial"/>
              </a:rPr>
              <a:t>Two Options Today — Neither Is Great</a:t>
            </a:r>
          </a:p>
        </p:txBody>
      </p:sp>
      <p:sp>
        <p:nvSpPr>
          <p:cNvPr id="4" name="Rectangle 3"/>
          <p:cNvSpPr/>
          <p:nvPr/>
        </p:nvSpPr>
        <p:spPr>
          <a:xfrm>
            <a:off x="566928" y="1234440"/>
            <a:ext cx="1005840" cy="41148"/>
          </a:xfrm>
          <a:prstGeom prst="rect">
            <a:avLst/>
          </a:prstGeom>
          <a:solidFill>
            <a:srgbClr val="F7931A"/>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a:solidFill>
                  <a:srgbClr val="F5F5F7"/>
                </a:solidFill>
                <a:latin typeface="Arial"/>
              </a:rPr>
              <a:t/>
            </a:r>
          </a:p>
        </p:txBody>
      </p:sp>
      <p:sp>
        <p:nvSpPr>
          <p:cNvPr id="5" name="Rounded Rectangle 4"/>
          <p:cNvSpPr/>
          <p:nvPr/>
        </p:nvSpPr>
        <p:spPr>
          <a:xfrm>
            <a:off x="822960" y="1600200"/>
            <a:ext cx="4846320" cy="1280160"/>
          </a:xfrm>
          <a:prstGeom prst="roundRect">
            <a:avLst/>
          </a:prstGeom>
          <a:solidFill>
            <a:srgbClr val="171B29"/>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a:solidFill>
                  <a:srgbClr val="F5F5F7"/>
                </a:solidFill>
                <a:latin typeface="Arial"/>
              </a:rPr>
              <a:t>🖥️  Run Your Own Node</a:t>
            </a:r>
          </a:p>
          <a:p>
            <a:pPr algn="ctr"/>
            <a:r>
              <a:rPr sz="1500" b="0">
                <a:solidFill>
                  <a:srgbClr val="F5F5F7"/>
                </a:solidFill>
                <a:latin typeface="Arial"/>
              </a:rPr>
              <a:t>Inbound liquidity · uptime · rebalancing</a:t>
            </a:r>
          </a:p>
        </p:txBody>
      </p:sp>
      <p:sp>
        <p:nvSpPr>
          <p:cNvPr id="6" name="Rounded Rectangle 5"/>
          <p:cNvSpPr/>
          <p:nvPr/>
        </p:nvSpPr>
        <p:spPr>
          <a:xfrm>
            <a:off x="6492240" y="1600200"/>
            <a:ext cx="4846320" cy="1280160"/>
          </a:xfrm>
          <a:prstGeom prst="roundRect">
            <a:avLst/>
          </a:prstGeom>
          <a:solidFill>
            <a:srgbClr val="171B29"/>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a:solidFill>
                  <a:srgbClr val="F5F5F7"/>
                </a:solidFill>
                <a:latin typeface="Arial"/>
              </a:rPr>
              <a:t>🔐  Use a Custodial Provider</a:t>
            </a:r>
          </a:p>
          <a:p>
            <a:pPr algn="ctr"/>
            <a:r>
              <a:rPr sz="1500" b="0">
                <a:solidFill>
                  <a:srgbClr val="F5F5F7"/>
                </a:solidFill>
                <a:latin typeface="Arial"/>
              </a:rPr>
              <a:t>Someone else holds your keys</a:t>
            </a:r>
          </a:p>
        </p:txBody>
      </p:sp>
      <p:cxnSp>
        <p:nvCxnSpPr>
          <p:cNvPr id="7" name="Connector 6"/>
          <p:cNvCxnSpPr/>
          <p:nvPr/>
        </p:nvCxnSpPr>
        <p:spPr>
          <a:xfrm>
            <a:off x="3246120" y="2880360"/>
            <a:ext cx="1874520" cy="411480"/>
          </a:xfrm>
          <a:prstGeom prst="line">
            <a:avLst/>
          </a:prstGeom>
          <a:ln w="1905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7040880" y="2880360"/>
            <a:ext cx="1874520" cy="411480"/>
          </a:xfrm>
          <a:prstGeom prst="line">
            <a:avLst/>
          </a:prstGeom>
          <a:ln w="1905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651760" y="2999232"/>
            <a:ext cx="6858000" cy="274320"/>
          </a:xfrm>
          <a:prstGeom prst="rect">
            <a:avLst/>
          </a:prstGeom>
          <a:noFill/>
        </p:spPr>
        <p:txBody>
          <a:bodyPr wrap="square">
            <a:spAutoFit/>
          </a:bodyPr>
          <a:lstStyle/>
          <a:p>
            <a:pPr algn="ctr"/>
            <a:r>
              <a:rPr sz="1250" b="0" i="1">
                <a:solidFill>
                  <a:srgbClr val="8B92A6"/>
                </a:solidFill>
                <a:latin typeface="Arial"/>
              </a:rPr>
              <a:t>but mobile already solved this</a:t>
            </a:r>
          </a:p>
        </p:txBody>
      </p:sp>
      <p:sp>
        <p:nvSpPr>
          <p:cNvPr id="10" name="Rounded Rectangle 9"/>
          <p:cNvSpPr/>
          <p:nvPr/>
        </p:nvSpPr>
        <p:spPr>
          <a:xfrm>
            <a:off x="2651760" y="3337560"/>
            <a:ext cx="6858000" cy="1143000"/>
          </a:xfrm>
          <a:prstGeom prst="roundRect">
            <a:avLst/>
          </a:prstGeom>
          <a:solidFill>
            <a:srgbClr val="1E2438"/>
          </a:solidFill>
          <a:ln w="1587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a:solidFill>
                  <a:srgbClr val="F5F5F7"/>
                </a:solidFill>
                <a:latin typeface="Arial"/>
              </a:rPr>
              <a:t>📱  Mobile Already Solved This: JIT Channels</a:t>
            </a:r>
          </a:p>
          <a:p>
            <a:pPr algn="ctr"/>
            <a:r>
              <a:rPr sz="1500" b="0">
                <a:solidFill>
                  <a:srgbClr val="F5F5F7"/>
                </a:solidFill>
                <a:latin typeface="Arial"/>
              </a:rPr>
              <a:t>Phoenix · Mutiny — zero upfront liquidity, self-custody</a:t>
            </a:r>
          </a:p>
        </p:txBody>
      </p:sp>
      <p:cxnSp>
        <p:nvCxnSpPr>
          <p:cNvPr id="11" name="Connector 10"/>
          <p:cNvCxnSpPr/>
          <p:nvPr/>
        </p:nvCxnSpPr>
        <p:spPr>
          <a:xfrm>
            <a:off x="6099048" y="4480560"/>
            <a:ext cx="0" cy="411480"/>
          </a:xfrm>
          <a:prstGeom prst="line">
            <a:avLst/>
          </a:prstGeom>
          <a:ln w="1905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651760" y="4572000"/>
            <a:ext cx="6858000" cy="274320"/>
          </a:xfrm>
          <a:prstGeom prst="rect">
            <a:avLst/>
          </a:prstGeom>
          <a:noFill/>
        </p:spPr>
        <p:txBody>
          <a:bodyPr wrap="square">
            <a:spAutoFit/>
          </a:bodyPr>
          <a:lstStyle/>
          <a:p>
            <a:pPr algn="ctr"/>
            <a:r>
              <a:rPr sz="1250" b="0" i="1">
                <a:solidFill>
                  <a:srgbClr val="8B92A6"/>
                </a:solidFill>
                <a:latin typeface="Arial"/>
              </a:rPr>
              <a:t>...but the web never got this</a:t>
            </a:r>
          </a:p>
        </p:txBody>
      </p:sp>
      <p:sp>
        <p:nvSpPr>
          <p:cNvPr id="13" name="Rounded Rectangle 12"/>
          <p:cNvSpPr/>
          <p:nvPr/>
        </p:nvSpPr>
        <p:spPr>
          <a:xfrm>
            <a:off x="3566160" y="4937760"/>
            <a:ext cx="5029200" cy="914400"/>
          </a:xfrm>
          <a:prstGeom prst="roundRect">
            <a:avLst/>
          </a:prstGeom>
          <a:solidFill>
            <a:srgbClr val="171B29"/>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000" b="1">
                <a:solidFill>
                  <a:srgbClr val="F5F5F7"/>
                </a:solidFill>
                <a:latin typeface="Arial"/>
              </a:rPr>
              <a:t>🌐  The Web: ?</a:t>
            </a:r>
          </a:p>
        </p:txBody>
      </p:sp>
      <p:sp>
        <p:nvSpPr>
          <p:cNvPr id="14" name="TextBox 13"/>
          <p:cNvSpPr txBox="1"/>
          <p:nvPr/>
        </p:nvSpPr>
        <p:spPr>
          <a:xfrm>
            <a:off x="548640" y="6492240"/>
            <a:ext cx="5486400" cy="274320"/>
          </a:xfrm>
          <a:prstGeom prst="rect">
            <a:avLst/>
          </a:prstGeom>
          <a:noFill/>
        </p:spPr>
        <p:txBody>
          <a:bodyPr wrap="square">
            <a:spAutoFit/>
          </a:bodyPr>
          <a:lstStyle/>
          <a:p>
            <a:pPr algn="l"/>
            <a:r>
              <a:rPr sz="900" b="0" i="0">
                <a:solidFill>
                  <a:srgbClr val="8B92A6"/>
                </a:solidFill>
                <a:latin typeface="Arial"/>
              </a:rPr>
              <a:t>LSPS2 Beyond Mobile</a:t>
            </a:r>
          </a:p>
        </p:txBody>
      </p:sp>
      <p:sp>
        <p:nvSpPr>
          <p:cNvPr id="15" name="TextBox 14"/>
          <p:cNvSpPr txBox="1"/>
          <p:nvPr/>
        </p:nvSpPr>
        <p:spPr>
          <a:xfrm>
            <a:off x="10424160" y="6492240"/>
            <a:ext cx="1280160" cy="274320"/>
          </a:xfrm>
          <a:prstGeom prst="rect">
            <a:avLst/>
          </a:prstGeom>
          <a:noFill/>
        </p:spPr>
        <p:txBody>
          <a:bodyPr wrap="square">
            <a:spAutoFit/>
          </a:bodyPr>
          <a:lstStyle/>
          <a:p>
            <a:pPr algn="r"/>
            <a:r>
              <a:rPr sz="900" b="0" i="0">
                <a:solidFill>
                  <a:srgbClr val="8B92A6"/>
                </a:solidFill>
                <a:latin typeface="Arial"/>
              </a:rPr>
              <a:t>2 /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548640" y="201168"/>
            <a:ext cx="10515600" cy="365760"/>
          </a:xfrm>
          <a:prstGeom prst="rect">
            <a:avLst/>
          </a:prstGeom>
          <a:noFill/>
        </p:spPr>
        <p:txBody>
          <a:bodyPr wrap="square">
            <a:spAutoFit/>
          </a:bodyPr>
          <a:lstStyle/>
          <a:p>
            <a:pPr algn="l"/>
            <a:r>
              <a:rPr sz="1300" b="1" i="0">
                <a:solidFill>
                  <a:srgbClr val="F7931A"/>
                </a:solidFill>
                <a:latin typeface="Arial"/>
              </a:rPr>
              <a:t>WHY LDK-NODE</a:t>
            </a:r>
          </a:p>
        </p:txBody>
      </p:sp>
      <p:sp>
        <p:nvSpPr>
          <p:cNvPr id="3" name="TextBox 2"/>
          <p:cNvSpPr txBox="1"/>
          <p:nvPr/>
        </p:nvSpPr>
        <p:spPr>
          <a:xfrm>
            <a:off x="548640" y="502920"/>
            <a:ext cx="11064240" cy="777240"/>
          </a:xfrm>
          <a:prstGeom prst="rect">
            <a:avLst/>
          </a:prstGeom>
          <a:noFill/>
        </p:spPr>
        <p:txBody>
          <a:bodyPr wrap="square">
            <a:spAutoFit/>
          </a:bodyPr>
          <a:lstStyle/>
          <a:p>
            <a:pPr algn="l"/>
            <a:r>
              <a:rPr sz="3000" b="1" i="0">
                <a:solidFill>
                  <a:srgbClr val="F5F5F7"/>
                </a:solidFill>
                <a:latin typeface="Arial"/>
              </a:rPr>
              <a:t>Choosing the Right Tool: ldk-node</a:t>
            </a:r>
          </a:p>
        </p:txBody>
      </p:sp>
      <p:sp>
        <p:nvSpPr>
          <p:cNvPr id="4" name="Rectangle 3"/>
          <p:cNvSpPr/>
          <p:nvPr/>
        </p:nvSpPr>
        <p:spPr>
          <a:xfrm>
            <a:off x="566928" y="1234440"/>
            <a:ext cx="1005840" cy="41148"/>
          </a:xfrm>
          <a:prstGeom prst="rect">
            <a:avLst/>
          </a:prstGeom>
          <a:solidFill>
            <a:srgbClr val="F7931A"/>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a:solidFill>
                  <a:srgbClr val="F5F5F7"/>
                </a:solidFill>
                <a:latin typeface="Arial"/>
              </a:rPr>
              <a:t/>
            </a:r>
          </a:p>
        </p:txBody>
      </p:sp>
      <p:sp>
        <p:nvSpPr>
          <p:cNvPr id="5" name="Rounded Rectangle 4"/>
          <p:cNvSpPr/>
          <p:nvPr/>
        </p:nvSpPr>
        <p:spPr>
          <a:xfrm>
            <a:off x="548640" y="1463040"/>
            <a:ext cx="3520440" cy="2286000"/>
          </a:xfrm>
          <a:prstGeom prst="roundRect">
            <a:avLst/>
          </a:prstGeom>
          <a:solidFill>
            <a:srgbClr val="171B29"/>
          </a:solidFill>
          <a:ln w="15875">
            <a:solidFill>
              <a:srgbClr val="8B92A6"/>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500" b="0">
                <a:solidFill>
                  <a:srgbClr val="F5F5F7"/>
                </a:solidFill>
                <a:latin typeface="Arial"/>
              </a:rPr>
              <a:t>CLN / LND</a:t>
            </a:r>
          </a:p>
          <a:p>
            <a:pPr algn="ctr"/>
            <a:r>
              <a:rPr sz="1500" b="0">
                <a:solidFill>
                  <a:srgbClr val="F5F5F7"/>
                </a:solidFill>
                <a:latin typeface="Arial"/>
              </a:rPr>
              <a:t/>
            </a:r>
          </a:p>
          <a:p>
            <a:pPr algn="ctr"/>
            <a:r>
              <a:rPr sz="1500" b="0">
                <a:solidFill>
                  <a:srgbClr val="F5F5F7"/>
                </a:solidFill>
                <a:latin typeface="Arial"/>
              </a:rPr>
              <a:t>❌ Full daemons</a:t>
            </a:r>
          </a:p>
          <a:p>
            <a:pPr algn="ctr"/>
            <a:r>
              <a:rPr sz="1500" b="0">
                <a:solidFill>
                  <a:srgbClr val="F5F5F7"/>
                </a:solidFill>
                <a:latin typeface="Arial"/>
              </a:rPr>
              <a:t>❌ LSPS2 not built-in</a:t>
            </a:r>
          </a:p>
        </p:txBody>
      </p:sp>
      <p:sp>
        <p:nvSpPr>
          <p:cNvPr id="6" name="Rounded Rectangle 5"/>
          <p:cNvSpPr/>
          <p:nvPr/>
        </p:nvSpPr>
        <p:spPr>
          <a:xfrm>
            <a:off x="4315968" y="1463040"/>
            <a:ext cx="3520440" cy="2286000"/>
          </a:xfrm>
          <a:prstGeom prst="roundRect">
            <a:avLst/>
          </a:prstGeom>
          <a:solidFill>
            <a:srgbClr val="171B29"/>
          </a:solidFill>
          <a:ln w="15875">
            <a:solidFill>
              <a:srgbClr val="8B92A6"/>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500" b="0">
                <a:solidFill>
                  <a:srgbClr val="F5F5F7"/>
                </a:solidFill>
                <a:latin typeface="Arial"/>
              </a:rPr>
              <a:t>Breez SDK</a:t>
            </a:r>
          </a:p>
          <a:p>
            <a:pPr algn="ctr"/>
            <a:r>
              <a:rPr sz="1500" b="0">
                <a:solidFill>
                  <a:srgbClr val="F5F5F7"/>
                </a:solidFill>
                <a:latin typeface="Arial"/>
              </a:rPr>
              <a:t/>
            </a:r>
          </a:p>
          <a:p>
            <a:pPr algn="ctr"/>
            <a:r>
              <a:rPr sz="1500" b="0">
                <a:solidFill>
                  <a:srgbClr val="F5F5F7"/>
                </a:solidFill>
                <a:latin typeface="Arial"/>
              </a:rPr>
              <a:t>📱 Mobile-first</a:t>
            </a:r>
          </a:p>
          <a:p>
            <a:pPr algn="ctr"/>
            <a:r>
              <a:rPr sz="1500" b="0">
                <a:solidFill>
                  <a:srgbClr val="F5F5F7"/>
                </a:solidFill>
                <a:latin typeface="Arial"/>
              </a:rPr>
              <a:t>❌ Greenlight custody</a:t>
            </a:r>
          </a:p>
          <a:p>
            <a:pPr algn="ctr"/>
            <a:r>
              <a:rPr sz="1500" b="0">
                <a:solidFill>
                  <a:srgbClr val="F5F5F7"/>
                </a:solidFill>
                <a:latin typeface="Arial"/>
              </a:rPr>
              <a:t>by default</a:t>
            </a:r>
          </a:p>
        </p:txBody>
      </p:sp>
      <p:sp>
        <p:nvSpPr>
          <p:cNvPr id="7" name="Rounded Rectangle 6"/>
          <p:cNvSpPr/>
          <p:nvPr/>
        </p:nvSpPr>
        <p:spPr>
          <a:xfrm>
            <a:off x="8083296" y="1463040"/>
            <a:ext cx="3566160" cy="2286000"/>
          </a:xfrm>
          <a:prstGeom prst="roundRect">
            <a:avLst/>
          </a:prstGeom>
          <a:solidFill>
            <a:srgbClr val="1E2438"/>
          </a:solidFill>
          <a:ln w="285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500" b="1">
                <a:solidFill>
                  <a:srgbClr val="F5F5F7"/>
                </a:solidFill>
                <a:latin typeface="Arial"/>
              </a:rPr>
              <a:t>⭐ ldk-node</a:t>
            </a:r>
          </a:p>
          <a:p>
            <a:pPr algn="ctr"/>
            <a:r>
              <a:rPr sz="1500" b="1">
                <a:solidFill>
                  <a:srgbClr val="F5F5F7"/>
                </a:solidFill>
                <a:latin typeface="Arial"/>
              </a:rPr>
              <a:t/>
            </a:r>
          </a:p>
          <a:p>
            <a:pPr algn="ctr"/>
            <a:r>
              <a:rPr sz="1500" b="1">
                <a:solidFill>
                  <a:srgbClr val="F5F5F7"/>
                </a:solidFill>
                <a:latin typeface="Arial"/>
              </a:rPr>
              <a:t>✅ Embeddable Rust library</a:t>
            </a:r>
          </a:p>
          <a:p>
            <a:pPr algn="ctr"/>
            <a:r>
              <a:rPr sz="1500" b="1">
                <a:solidFill>
                  <a:srgbClr val="F5F5F7"/>
                </a:solidFill>
                <a:latin typeface="Arial"/>
              </a:rPr>
              <a:t>✅ Runs in-process</a:t>
            </a:r>
          </a:p>
          <a:p>
            <a:pPr algn="ctr"/>
            <a:r>
              <a:rPr sz="1500" b="1">
                <a:solidFill>
                  <a:srgbClr val="F5F5F7"/>
                </a:solidFill>
                <a:latin typeface="Arial"/>
              </a:rPr>
              <a:t>✅ LSPS2 built-in</a:t>
            </a:r>
          </a:p>
        </p:txBody>
      </p:sp>
      <p:sp>
        <p:nvSpPr>
          <p:cNvPr id="8" name="Rounded Rectangle 7"/>
          <p:cNvSpPr/>
          <p:nvPr/>
        </p:nvSpPr>
        <p:spPr>
          <a:xfrm>
            <a:off x="548640" y="3977639"/>
            <a:ext cx="2606040" cy="96012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50" b="0">
                <a:solidFill>
                  <a:srgbClr val="F5F5F7"/>
                </a:solidFill>
                <a:latin typeface="Arial"/>
              </a:rPr>
              <a:t>add_liquidity_source()</a:t>
            </a:r>
          </a:p>
          <a:p>
            <a:pPr algn="ctr"/>
            <a:r>
              <a:rPr sz="1150" b="0">
                <a:solidFill>
                  <a:srgbClr val="F5F5F7"/>
                </a:solidFill>
                <a:latin typeface="Arial"/>
              </a:rPr>
              <a:t>multi-LSP fee comparison</a:t>
            </a:r>
          </a:p>
        </p:txBody>
      </p:sp>
      <p:sp>
        <p:nvSpPr>
          <p:cNvPr id="9" name="Rounded Rectangle 8"/>
          <p:cNvSpPr/>
          <p:nvPr/>
        </p:nvSpPr>
        <p:spPr>
          <a:xfrm>
            <a:off x="3319272" y="3977639"/>
            <a:ext cx="2606040" cy="96012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50" b="0">
                <a:solidFill>
                  <a:srgbClr val="F5F5F7"/>
                </a:solidFill>
                <a:latin typeface="Arial"/>
              </a:rPr>
              <a:t>next_event_async()</a:t>
            </a:r>
          </a:p>
          <a:p>
            <a:pPr algn="ctr"/>
            <a:r>
              <a:rPr sz="1150" b="0">
                <a:solidFill>
                  <a:srgbClr val="F5F5F7"/>
                </a:solidFill>
                <a:latin typeface="Arial"/>
              </a:rPr>
              <a:t>typed event loop</a:t>
            </a:r>
          </a:p>
        </p:txBody>
      </p:sp>
      <p:sp>
        <p:nvSpPr>
          <p:cNvPr id="10" name="Rounded Rectangle 9"/>
          <p:cNvSpPr/>
          <p:nvPr/>
        </p:nvSpPr>
        <p:spPr>
          <a:xfrm>
            <a:off x="6089904" y="3977639"/>
            <a:ext cx="2606040" cy="96012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50" b="0">
                <a:solidFill>
                  <a:srgbClr val="F5F5F7"/>
                </a:solidFill>
                <a:latin typeface="Arial"/>
              </a:rPr>
              <a:t>persistence + chain</a:t>
            </a:r>
          </a:p>
          <a:p>
            <a:pPr algn="ctr"/>
            <a:r>
              <a:rPr sz="1150" b="0">
                <a:solidFill>
                  <a:srgbClr val="F5F5F7"/>
                </a:solidFill>
                <a:latin typeface="Arial"/>
              </a:rPr>
              <a:t>sync included</a:t>
            </a:r>
          </a:p>
        </p:txBody>
      </p:sp>
      <p:sp>
        <p:nvSpPr>
          <p:cNvPr id="11" name="Rounded Rectangle 10"/>
          <p:cNvSpPr/>
          <p:nvPr/>
        </p:nvSpPr>
        <p:spPr>
          <a:xfrm>
            <a:off x="8860536" y="3977639"/>
            <a:ext cx="2606040" cy="96012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50" b="0">
                <a:solidFill>
                  <a:srgbClr val="F5F5F7"/>
                </a:solidFill>
                <a:latin typeface="Arial"/>
              </a:rPr>
              <a:t>BOLT12 on the</a:t>
            </a:r>
          </a:p>
          <a:p>
            <a:pPr algn="ctr"/>
            <a:r>
              <a:rPr sz="1150" b="0">
                <a:solidFill>
                  <a:srgbClr val="F5F5F7"/>
                </a:solidFill>
                <a:latin typeface="Arial"/>
              </a:rPr>
              <a:t>same code path</a:t>
            </a:r>
          </a:p>
        </p:txBody>
      </p:sp>
      <p:sp>
        <p:nvSpPr>
          <p:cNvPr id="12" name="Rounded Rectangle 11"/>
          <p:cNvSpPr/>
          <p:nvPr/>
        </p:nvSpPr>
        <p:spPr>
          <a:xfrm>
            <a:off x="548640" y="5257800"/>
            <a:ext cx="11091672" cy="960120"/>
          </a:xfrm>
          <a:prstGeom prst="roundRect">
            <a:avLst/>
          </a:prstGeom>
          <a:solidFill>
            <a:srgbClr val="1E2438"/>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a:solidFill>
                  <a:srgbClr val="F5F5F7"/>
                </a:solidFill>
                <a:latin typeface="Arial"/>
              </a:rPr>
              <a:t>⚠  Honest tradeoff: pre-1.0 — the API breaks between versions. But every break is a compiler error (Rust catches it). Pin a git rev.</a:t>
            </a:r>
          </a:p>
        </p:txBody>
      </p:sp>
      <p:sp>
        <p:nvSpPr>
          <p:cNvPr id="13" name="TextBox 12"/>
          <p:cNvSpPr txBox="1"/>
          <p:nvPr/>
        </p:nvSpPr>
        <p:spPr>
          <a:xfrm>
            <a:off x="548640" y="6492240"/>
            <a:ext cx="5486400" cy="274320"/>
          </a:xfrm>
          <a:prstGeom prst="rect">
            <a:avLst/>
          </a:prstGeom>
          <a:noFill/>
        </p:spPr>
        <p:txBody>
          <a:bodyPr wrap="square">
            <a:spAutoFit/>
          </a:bodyPr>
          <a:lstStyle/>
          <a:p>
            <a:pPr algn="l"/>
            <a:r>
              <a:rPr sz="900" b="0" i="0">
                <a:solidFill>
                  <a:srgbClr val="8B92A6"/>
                </a:solidFill>
                <a:latin typeface="Arial"/>
              </a:rPr>
              <a:t>LSPS2 Beyond Mobile</a:t>
            </a:r>
          </a:p>
        </p:txBody>
      </p:sp>
      <p:sp>
        <p:nvSpPr>
          <p:cNvPr id="14" name="TextBox 13"/>
          <p:cNvSpPr txBox="1"/>
          <p:nvPr/>
        </p:nvSpPr>
        <p:spPr>
          <a:xfrm>
            <a:off x="10424160" y="6492240"/>
            <a:ext cx="1280160" cy="274320"/>
          </a:xfrm>
          <a:prstGeom prst="rect">
            <a:avLst/>
          </a:prstGeom>
          <a:noFill/>
        </p:spPr>
        <p:txBody>
          <a:bodyPr wrap="square">
            <a:spAutoFit/>
          </a:bodyPr>
          <a:lstStyle/>
          <a:p>
            <a:pPr algn="r"/>
            <a:r>
              <a:rPr sz="900" b="0" i="0">
                <a:solidFill>
                  <a:srgbClr val="8B92A6"/>
                </a:solidFill>
                <a:latin typeface="Arial"/>
              </a:rPr>
              <a:t>3 /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548640" y="201168"/>
            <a:ext cx="10515600" cy="365760"/>
          </a:xfrm>
          <a:prstGeom prst="rect">
            <a:avLst/>
          </a:prstGeom>
          <a:noFill/>
        </p:spPr>
        <p:txBody>
          <a:bodyPr wrap="square">
            <a:spAutoFit/>
          </a:bodyPr>
          <a:lstStyle/>
          <a:p>
            <a:pPr algn="l"/>
            <a:r>
              <a:rPr sz="1300" b="1" i="0">
                <a:solidFill>
                  <a:srgbClr val="F7931A"/>
                </a:solidFill>
                <a:latin typeface="Arial"/>
              </a:rPr>
              <a:t>THE PROTOCOL</a:t>
            </a:r>
          </a:p>
        </p:txBody>
      </p:sp>
      <p:sp>
        <p:nvSpPr>
          <p:cNvPr id="3" name="TextBox 2"/>
          <p:cNvSpPr txBox="1"/>
          <p:nvPr/>
        </p:nvSpPr>
        <p:spPr>
          <a:xfrm>
            <a:off x="548640" y="502920"/>
            <a:ext cx="11064240" cy="777240"/>
          </a:xfrm>
          <a:prstGeom prst="rect">
            <a:avLst/>
          </a:prstGeom>
          <a:noFill/>
        </p:spPr>
        <p:txBody>
          <a:bodyPr wrap="square">
            <a:spAutoFit/>
          </a:bodyPr>
          <a:lstStyle/>
          <a:p>
            <a:pPr algn="l"/>
            <a:r>
              <a:rPr sz="3000" b="1" i="0">
                <a:solidFill>
                  <a:srgbClr val="F5F5F7"/>
                </a:solidFill>
                <a:latin typeface="Arial"/>
              </a:rPr>
              <a:t>LSPS2 in Two Messages (bLIP-52)</a:t>
            </a:r>
          </a:p>
        </p:txBody>
      </p:sp>
      <p:sp>
        <p:nvSpPr>
          <p:cNvPr id="4" name="Rectangle 3"/>
          <p:cNvSpPr/>
          <p:nvPr/>
        </p:nvSpPr>
        <p:spPr>
          <a:xfrm>
            <a:off x="566928" y="1234440"/>
            <a:ext cx="1005840" cy="41148"/>
          </a:xfrm>
          <a:prstGeom prst="rect">
            <a:avLst/>
          </a:prstGeom>
          <a:solidFill>
            <a:srgbClr val="F7931A"/>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a:solidFill>
                  <a:srgbClr val="F5F5F7"/>
                </a:solidFill>
                <a:latin typeface="Arial"/>
              </a:rPr>
              <a:t/>
            </a:r>
          </a:p>
        </p:txBody>
      </p:sp>
      <p:sp>
        <p:nvSpPr>
          <p:cNvPr id="5" name="TextBox 4"/>
          <p:cNvSpPr txBox="1"/>
          <p:nvPr/>
        </p:nvSpPr>
        <p:spPr>
          <a:xfrm>
            <a:off x="548640" y="1371600"/>
            <a:ext cx="11064240" cy="320040"/>
          </a:xfrm>
          <a:prstGeom prst="rect">
            <a:avLst/>
          </a:prstGeom>
          <a:noFill/>
        </p:spPr>
        <p:txBody>
          <a:bodyPr wrap="square">
            <a:spAutoFit/>
          </a:bodyPr>
          <a:lstStyle/>
          <a:p>
            <a:pPr algn="ctr"/>
            <a:r>
              <a:rPr sz="1300" b="0" i="0">
                <a:solidFill>
                  <a:srgbClr val="8B92A6"/>
                </a:solidFill>
                <a:latin typeface="Arial"/>
              </a:rPr>
              <a:t>Over LSPS0 — the existing Lightning peer connection. No new network connection.</a:t>
            </a:r>
          </a:p>
        </p:txBody>
      </p:sp>
      <p:sp>
        <p:nvSpPr>
          <p:cNvPr id="6" name="Rounded Rectangle 5"/>
          <p:cNvSpPr/>
          <p:nvPr/>
        </p:nvSpPr>
        <p:spPr>
          <a:xfrm>
            <a:off x="1371599" y="1874519"/>
            <a:ext cx="2377440" cy="64008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F5F5F7"/>
                </a:solidFill>
                <a:latin typeface="Arial"/>
              </a:rPr>
              <a:t>🧑 Client</a:t>
            </a:r>
          </a:p>
        </p:txBody>
      </p:sp>
      <p:sp>
        <p:nvSpPr>
          <p:cNvPr id="7" name="Rounded Rectangle 6"/>
          <p:cNvSpPr/>
          <p:nvPr/>
        </p:nvSpPr>
        <p:spPr>
          <a:xfrm>
            <a:off x="8412480" y="1874519"/>
            <a:ext cx="2377440" cy="64008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F5F5F7"/>
                </a:solidFill>
                <a:latin typeface="Arial"/>
              </a:rPr>
              <a:t>🏦 LSP</a:t>
            </a:r>
          </a:p>
        </p:txBody>
      </p:sp>
      <p:cxnSp>
        <p:nvCxnSpPr>
          <p:cNvPr id="8" name="Connector 7"/>
          <p:cNvCxnSpPr/>
          <p:nvPr/>
        </p:nvCxnSpPr>
        <p:spPr>
          <a:xfrm>
            <a:off x="2560320" y="2542032"/>
            <a:ext cx="0" cy="3081528"/>
          </a:xfrm>
          <a:prstGeom prst="line">
            <a:avLst/>
          </a:prstGeom>
          <a:ln w="12700">
            <a:solidFill>
              <a:srgbClr val="3A4055"/>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601200" y="2542032"/>
            <a:ext cx="0" cy="3081528"/>
          </a:xfrm>
          <a:prstGeom prst="line">
            <a:avLst/>
          </a:prstGeom>
          <a:ln w="12700">
            <a:solidFill>
              <a:srgbClr val="3A4055"/>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2880360"/>
            <a:ext cx="7040880" cy="0"/>
          </a:xfrm>
          <a:prstGeom prst="line">
            <a:avLst/>
          </a:prstGeom>
          <a:ln w="25400">
            <a:solidFill>
              <a:srgbClr val="F793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560320" y="2587752"/>
            <a:ext cx="7040880" cy="256032"/>
          </a:xfrm>
          <a:prstGeom prst="rect">
            <a:avLst/>
          </a:prstGeom>
          <a:noFill/>
        </p:spPr>
        <p:txBody>
          <a:bodyPr wrap="square">
            <a:spAutoFit/>
          </a:bodyPr>
          <a:lstStyle/>
          <a:p>
            <a:pPr algn="ctr"/>
            <a:r>
              <a:rPr sz="1250" b="1" i="0">
                <a:solidFill>
                  <a:srgbClr val="F5F5F7"/>
                </a:solidFill>
                <a:latin typeface="Arial"/>
              </a:rPr>
              <a:t>① lsps2.get_info</a:t>
            </a:r>
          </a:p>
        </p:txBody>
      </p:sp>
      <p:sp>
        <p:nvSpPr>
          <p:cNvPr id="12" name="TextBox 11"/>
          <p:cNvSpPr txBox="1"/>
          <p:nvPr/>
        </p:nvSpPr>
        <p:spPr>
          <a:xfrm>
            <a:off x="2560320" y="2935224"/>
            <a:ext cx="7040880" cy="256032"/>
          </a:xfrm>
          <a:prstGeom prst="rect">
            <a:avLst/>
          </a:prstGeom>
          <a:noFill/>
        </p:spPr>
        <p:txBody>
          <a:bodyPr wrap="square">
            <a:spAutoFit/>
          </a:bodyPr>
          <a:lstStyle/>
          <a:p>
            <a:pPr algn="ctr"/>
            <a:r>
              <a:rPr sz="1050" b="0" i="1">
                <a:solidFill>
                  <a:srgbClr val="8B92A6"/>
                </a:solidFill>
                <a:latin typeface="Arial"/>
              </a:rPr>
              <a:t>asks for fee schedule (base fee + ppm + expiry)</a:t>
            </a:r>
          </a:p>
        </p:txBody>
      </p:sp>
      <p:cxnSp>
        <p:nvCxnSpPr>
          <p:cNvPr id="13" name="Connector 12"/>
          <p:cNvCxnSpPr/>
          <p:nvPr/>
        </p:nvCxnSpPr>
        <p:spPr>
          <a:xfrm flipH="1">
            <a:off x="2560320" y="3703320"/>
            <a:ext cx="7040880" cy="0"/>
          </a:xfrm>
          <a:prstGeom prst="line">
            <a:avLst/>
          </a:prstGeom>
          <a:ln w="2540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560320" y="3410712"/>
            <a:ext cx="7040880" cy="256032"/>
          </a:xfrm>
          <a:prstGeom prst="rect">
            <a:avLst/>
          </a:prstGeom>
          <a:noFill/>
        </p:spPr>
        <p:txBody>
          <a:bodyPr wrap="square">
            <a:spAutoFit/>
          </a:bodyPr>
          <a:lstStyle/>
          <a:p>
            <a:pPr algn="ctr"/>
            <a:r>
              <a:rPr sz="1250" b="1" i="0">
                <a:solidFill>
                  <a:srgbClr val="F5F5F7"/>
                </a:solidFill>
                <a:latin typeface="Arial"/>
              </a:rPr>
              <a:t>fee schedule returned</a:t>
            </a:r>
          </a:p>
        </p:txBody>
      </p:sp>
      <p:sp>
        <p:nvSpPr>
          <p:cNvPr id="15" name="TextBox 14"/>
          <p:cNvSpPr txBox="1"/>
          <p:nvPr/>
        </p:nvSpPr>
        <p:spPr>
          <a:xfrm>
            <a:off x="2560320" y="3758183"/>
            <a:ext cx="7040880" cy="256032"/>
          </a:xfrm>
          <a:prstGeom prst="rect">
            <a:avLst/>
          </a:prstGeom>
          <a:noFill/>
        </p:spPr>
        <p:txBody>
          <a:bodyPr wrap="square">
            <a:spAutoFit/>
          </a:bodyPr>
          <a:lstStyle/>
          <a:p>
            <a:pPr algn="ctr"/>
            <a:r>
              <a:rPr sz="1050" b="0" i="1">
                <a:solidFill>
                  <a:srgbClr val="8B92A6"/>
                </a:solidFill>
                <a:latin typeface="Arial"/>
              </a:rPr>
              <a:t>base fee · ppm · expiry</a:t>
            </a:r>
          </a:p>
        </p:txBody>
      </p:sp>
      <p:cxnSp>
        <p:nvCxnSpPr>
          <p:cNvPr id="16" name="Connector 15"/>
          <p:cNvCxnSpPr/>
          <p:nvPr/>
        </p:nvCxnSpPr>
        <p:spPr>
          <a:xfrm>
            <a:off x="2560320" y="4526280"/>
            <a:ext cx="7040880" cy="0"/>
          </a:xfrm>
          <a:prstGeom prst="line">
            <a:avLst/>
          </a:prstGeom>
          <a:ln w="25400">
            <a:solidFill>
              <a:srgbClr val="F793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560320" y="4233672"/>
            <a:ext cx="7040880" cy="256032"/>
          </a:xfrm>
          <a:prstGeom prst="rect">
            <a:avLst/>
          </a:prstGeom>
          <a:noFill/>
        </p:spPr>
        <p:txBody>
          <a:bodyPr wrap="square">
            <a:spAutoFit/>
          </a:bodyPr>
          <a:lstStyle/>
          <a:p>
            <a:pPr algn="ctr"/>
            <a:r>
              <a:rPr sz="1250" b="1" i="0">
                <a:solidFill>
                  <a:srgbClr val="F5F5F7"/>
                </a:solidFill>
                <a:latin typeface="Arial"/>
              </a:rPr>
              <a:t>② lsps2.buy</a:t>
            </a:r>
          </a:p>
        </p:txBody>
      </p:sp>
      <p:sp>
        <p:nvSpPr>
          <p:cNvPr id="18" name="TextBox 17"/>
          <p:cNvSpPr txBox="1"/>
          <p:nvPr/>
        </p:nvSpPr>
        <p:spPr>
          <a:xfrm>
            <a:off x="2560320" y="4581144"/>
            <a:ext cx="7040880" cy="256032"/>
          </a:xfrm>
          <a:prstGeom prst="rect">
            <a:avLst/>
          </a:prstGeom>
          <a:noFill/>
        </p:spPr>
        <p:txBody>
          <a:bodyPr wrap="square">
            <a:spAutoFit/>
          </a:bodyPr>
          <a:lstStyle/>
          <a:p>
            <a:pPr algn="ctr"/>
            <a:r>
              <a:rPr sz="1050" b="0" i="1">
                <a:solidFill>
                  <a:srgbClr val="8B92A6"/>
                </a:solidFill>
                <a:latin typeface="Arial"/>
              </a:rPr>
              <a:t>commits to that fee schedule</a:t>
            </a:r>
          </a:p>
        </p:txBody>
      </p:sp>
      <p:cxnSp>
        <p:nvCxnSpPr>
          <p:cNvPr id="19" name="Connector 18"/>
          <p:cNvCxnSpPr/>
          <p:nvPr/>
        </p:nvCxnSpPr>
        <p:spPr>
          <a:xfrm flipH="1">
            <a:off x="2560320" y="5349240"/>
            <a:ext cx="7040880" cy="0"/>
          </a:xfrm>
          <a:prstGeom prst="line">
            <a:avLst/>
          </a:prstGeom>
          <a:ln w="2540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560320" y="5056631"/>
            <a:ext cx="7040880" cy="256032"/>
          </a:xfrm>
          <a:prstGeom prst="rect">
            <a:avLst/>
          </a:prstGeom>
          <a:noFill/>
        </p:spPr>
        <p:txBody>
          <a:bodyPr wrap="square">
            <a:spAutoFit/>
          </a:bodyPr>
          <a:lstStyle/>
          <a:p>
            <a:pPr algn="ctr"/>
            <a:r>
              <a:rPr sz="1250" b="1" i="0">
                <a:solidFill>
                  <a:srgbClr val="F5F5F7"/>
                </a:solidFill>
                <a:latin typeface="Arial"/>
              </a:rPr>
              <a:t>phantom SCID returned</a:t>
            </a:r>
          </a:p>
        </p:txBody>
      </p:sp>
      <p:sp>
        <p:nvSpPr>
          <p:cNvPr id="21" name="TextBox 20"/>
          <p:cNvSpPr txBox="1"/>
          <p:nvPr/>
        </p:nvSpPr>
        <p:spPr>
          <a:xfrm>
            <a:off x="2560320" y="5404103"/>
            <a:ext cx="7040880" cy="256032"/>
          </a:xfrm>
          <a:prstGeom prst="rect">
            <a:avLst/>
          </a:prstGeom>
          <a:noFill/>
        </p:spPr>
        <p:txBody>
          <a:bodyPr wrap="square">
            <a:spAutoFit/>
          </a:bodyPr>
          <a:lstStyle/>
          <a:p>
            <a:pPr algn="ctr"/>
            <a:r>
              <a:rPr sz="1050" b="0" i="1">
                <a:solidFill>
                  <a:srgbClr val="8B92A6"/>
                </a:solidFill>
                <a:latin typeface="Arial"/>
              </a:rPr>
              <a:t>a fake channel ID — a promise</a:t>
            </a:r>
          </a:p>
        </p:txBody>
      </p:sp>
      <p:sp>
        <p:nvSpPr>
          <p:cNvPr id="22" name="Rounded Rectangle 21"/>
          <p:cNvSpPr/>
          <p:nvPr/>
        </p:nvSpPr>
        <p:spPr>
          <a:xfrm>
            <a:off x="2441448" y="5806440"/>
            <a:ext cx="7315200" cy="594360"/>
          </a:xfrm>
          <a:prstGeom prst="roundRect">
            <a:avLst/>
          </a:prstGeom>
          <a:solidFill>
            <a:srgbClr val="1E2438"/>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a:solidFill>
                  <a:srgbClr val="F5F5F7"/>
                </a:solidFill>
                <a:latin typeface="Arial"/>
              </a:rPr>
              <a:t>Phantom SCID → encoded as a route hint in the BOLT11 invoice</a:t>
            </a:r>
          </a:p>
        </p:txBody>
      </p:sp>
      <p:sp>
        <p:nvSpPr>
          <p:cNvPr id="23" name="TextBox 22"/>
          <p:cNvSpPr txBox="1"/>
          <p:nvPr/>
        </p:nvSpPr>
        <p:spPr>
          <a:xfrm>
            <a:off x="548640" y="6492240"/>
            <a:ext cx="5486400" cy="274320"/>
          </a:xfrm>
          <a:prstGeom prst="rect">
            <a:avLst/>
          </a:prstGeom>
          <a:noFill/>
        </p:spPr>
        <p:txBody>
          <a:bodyPr wrap="square">
            <a:spAutoFit/>
          </a:bodyPr>
          <a:lstStyle/>
          <a:p>
            <a:pPr algn="l"/>
            <a:r>
              <a:rPr sz="900" b="0" i="0">
                <a:solidFill>
                  <a:srgbClr val="8B92A6"/>
                </a:solidFill>
                <a:latin typeface="Arial"/>
              </a:rPr>
              <a:t>LSPS2 Beyond Mobile</a:t>
            </a:r>
          </a:p>
        </p:txBody>
      </p:sp>
      <p:sp>
        <p:nvSpPr>
          <p:cNvPr id="24" name="TextBox 23"/>
          <p:cNvSpPr txBox="1"/>
          <p:nvPr/>
        </p:nvSpPr>
        <p:spPr>
          <a:xfrm>
            <a:off x="10424160" y="6492240"/>
            <a:ext cx="1280160" cy="274320"/>
          </a:xfrm>
          <a:prstGeom prst="rect">
            <a:avLst/>
          </a:prstGeom>
          <a:noFill/>
        </p:spPr>
        <p:txBody>
          <a:bodyPr wrap="square">
            <a:spAutoFit/>
          </a:bodyPr>
          <a:lstStyle/>
          <a:p>
            <a:pPr algn="r"/>
            <a:r>
              <a:rPr sz="900" b="0" i="0">
                <a:solidFill>
                  <a:srgbClr val="8B92A6"/>
                </a:solidFill>
                <a:latin typeface="Arial"/>
              </a:rPr>
              <a:t>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548640" y="201168"/>
            <a:ext cx="10515600" cy="365760"/>
          </a:xfrm>
          <a:prstGeom prst="rect">
            <a:avLst/>
          </a:prstGeom>
          <a:noFill/>
        </p:spPr>
        <p:txBody>
          <a:bodyPr wrap="square">
            <a:spAutoFit/>
          </a:bodyPr>
          <a:lstStyle/>
          <a:p>
            <a:pPr algn="l"/>
            <a:r>
              <a:rPr sz="1300" b="1" i="0">
                <a:solidFill>
                  <a:srgbClr val="F7931A"/>
                </a:solidFill>
                <a:latin typeface="Arial"/>
              </a:rPr>
              <a:t>THE PAYMENT FLOW · STEP 1 OF 5</a:t>
            </a:r>
          </a:p>
        </p:txBody>
      </p:sp>
      <p:sp>
        <p:nvSpPr>
          <p:cNvPr id="3" name="TextBox 2"/>
          <p:cNvSpPr txBox="1"/>
          <p:nvPr/>
        </p:nvSpPr>
        <p:spPr>
          <a:xfrm>
            <a:off x="548640" y="502920"/>
            <a:ext cx="11064240" cy="777240"/>
          </a:xfrm>
          <a:prstGeom prst="rect">
            <a:avLst/>
          </a:prstGeom>
          <a:noFill/>
        </p:spPr>
        <p:txBody>
          <a:bodyPr wrap="square">
            <a:spAutoFit/>
          </a:bodyPr>
          <a:lstStyle/>
          <a:p>
            <a:pPr algn="l"/>
            <a:r>
              <a:rPr sz="2700" b="1" i="0">
                <a:solidFill>
                  <a:srgbClr val="F5F5F7"/>
                </a:solidFill>
                <a:latin typeface="Arial"/>
              </a:rPr>
              <a:t>① The Payment Arrives</a:t>
            </a:r>
          </a:p>
        </p:txBody>
      </p:sp>
      <p:sp>
        <p:nvSpPr>
          <p:cNvPr id="4" name="Rectangle 3"/>
          <p:cNvSpPr/>
          <p:nvPr/>
        </p:nvSpPr>
        <p:spPr>
          <a:xfrm>
            <a:off x="566928" y="1234440"/>
            <a:ext cx="1005840" cy="41148"/>
          </a:xfrm>
          <a:prstGeom prst="rect">
            <a:avLst/>
          </a:prstGeom>
          <a:solidFill>
            <a:srgbClr val="F7931A"/>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a:solidFill>
                  <a:srgbClr val="F5F5F7"/>
                </a:solidFill>
                <a:latin typeface="Arial"/>
              </a:rPr>
              <a:t/>
            </a:r>
          </a:p>
        </p:txBody>
      </p:sp>
      <p:sp>
        <p:nvSpPr>
          <p:cNvPr id="5" name="Rounded Rectangle 4"/>
          <p:cNvSpPr/>
          <p:nvPr/>
        </p:nvSpPr>
        <p:spPr>
          <a:xfrm>
            <a:off x="548639" y="594360"/>
            <a:ext cx="2377440" cy="64008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5F5F7"/>
                </a:solidFill>
                <a:latin typeface="Arial"/>
              </a:rPr>
              <a:t>💳 Payer</a:t>
            </a:r>
          </a:p>
        </p:txBody>
      </p:sp>
      <p:sp>
        <p:nvSpPr>
          <p:cNvPr id="6" name="Rounded Rectangle 5"/>
          <p:cNvSpPr/>
          <p:nvPr/>
        </p:nvSpPr>
        <p:spPr>
          <a:xfrm>
            <a:off x="4910328" y="594360"/>
            <a:ext cx="2377440" cy="64008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5F5F7"/>
                </a:solidFill>
                <a:latin typeface="Arial"/>
              </a:rPr>
              <a:t>🏦 LSP</a:t>
            </a:r>
          </a:p>
        </p:txBody>
      </p:sp>
      <p:sp>
        <p:nvSpPr>
          <p:cNvPr id="7" name="Rounded Rectangle 6"/>
          <p:cNvSpPr/>
          <p:nvPr/>
        </p:nvSpPr>
        <p:spPr>
          <a:xfrm>
            <a:off x="9235440" y="594360"/>
            <a:ext cx="2377440" cy="64008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5F5F7"/>
                </a:solidFill>
                <a:latin typeface="Arial"/>
              </a:rPr>
              <a:t>🏪 Merchant Node</a:t>
            </a:r>
          </a:p>
        </p:txBody>
      </p:sp>
      <p:cxnSp>
        <p:nvCxnSpPr>
          <p:cNvPr id="8" name="Connector 7"/>
          <p:cNvCxnSpPr/>
          <p:nvPr/>
        </p:nvCxnSpPr>
        <p:spPr>
          <a:xfrm>
            <a:off x="1737360" y="1261872"/>
            <a:ext cx="0" cy="4727448"/>
          </a:xfrm>
          <a:prstGeom prst="line">
            <a:avLst/>
          </a:prstGeom>
          <a:ln w="12700">
            <a:solidFill>
              <a:srgbClr val="3A4055"/>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1261872"/>
            <a:ext cx="0" cy="4727448"/>
          </a:xfrm>
          <a:prstGeom prst="line">
            <a:avLst/>
          </a:prstGeom>
          <a:ln w="12700">
            <a:solidFill>
              <a:srgbClr val="3A4055"/>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424160" y="1261872"/>
            <a:ext cx="0" cy="4727448"/>
          </a:xfrm>
          <a:prstGeom prst="line">
            <a:avLst/>
          </a:prstGeom>
          <a:ln w="12700">
            <a:solidFill>
              <a:srgbClr val="3A4055"/>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737360" y="1783080"/>
            <a:ext cx="4361688" cy="0"/>
          </a:xfrm>
          <a:prstGeom prst="line">
            <a:avLst/>
          </a:prstGeom>
          <a:ln w="31750">
            <a:solidFill>
              <a:srgbClr val="F793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737360" y="1481328"/>
            <a:ext cx="4361688" cy="274320"/>
          </a:xfrm>
          <a:prstGeom prst="rect">
            <a:avLst/>
          </a:prstGeom>
          <a:noFill/>
        </p:spPr>
        <p:txBody>
          <a:bodyPr wrap="square">
            <a:spAutoFit/>
          </a:bodyPr>
          <a:lstStyle/>
          <a:p>
            <a:pPr algn="ctr"/>
            <a:r>
              <a:rPr sz="1250" b="1" i="0">
                <a:solidFill>
                  <a:srgbClr val="F7931A"/>
                </a:solidFill>
                <a:latin typeface="Arial"/>
              </a:rPr>
              <a:t>① HTLC via phantom SCID</a:t>
            </a:r>
          </a:p>
        </p:txBody>
      </p:sp>
      <p:sp>
        <p:nvSpPr>
          <p:cNvPr id="13" name="TextBox 12"/>
          <p:cNvSpPr txBox="1"/>
          <p:nvPr/>
        </p:nvSpPr>
        <p:spPr>
          <a:xfrm>
            <a:off x="548640" y="6492240"/>
            <a:ext cx="5486400" cy="274320"/>
          </a:xfrm>
          <a:prstGeom prst="rect">
            <a:avLst/>
          </a:prstGeom>
          <a:noFill/>
        </p:spPr>
        <p:txBody>
          <a:bodyPr wrap="square">
            <a:spAutoFit/>
          </a:bodyPr>
          <a:lstStyle/>
          <a:p>
            <a:pPr algn="l"/>
            <a:r>
              <a:rPr sz="900" b="0" i="0">
                <a:solidFill>
                  <a:srgbClr val="8B92A6"/>
                </a:solidFill>
                <a:latin typeface="Arial"/>
              </a:rPr>
              <a:t>LSPS2 Beyond Mobile</a:t>
            </a:r>
          </a:p>
        </p:txBody>
      </p:sp>
      <p:sp>
        <p:nvSpPr>
          <p:cNvPr id="14" name="TextBox 13"/>
          <p:cNvSpPr txBox="1"/>
          <p:nvPr/>
        </p:nvSpPr>
        <p:spPr>
          <a:xfrm>
            <a:off x="10424160" y="6492240"/>
            <a:ext cx="1280160" cy="274320"/>
          </a:xfrm>
          <a:prstGeom prst="rect">
            <a:avLst/>
          </a:prstGeom>
          <a:noFill/>
        </p:spPr>
        <p:txBody>
          <a:bodyPr wrap="square">
            <a:spAutoFit/>
          </a:bodyPr>
          <a:lstStyle/>
          <a:p>
            <a:pPr algn="r"/>
            <a:r>
              <a:rPr sz="900" b="0" i="0">
                <a:solidFill>
                  <a:srgbClr val="8B92A6"/>
                </a:solidFill>
                <a:latin typeface="Arial"/>
              </a:rPr>
              <a:t>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548640" y="201168"/>
            <a:ext cx="10515600" cy="365760"/>
          </a:xfrm>
          <a:prstGeom prst="rect">
            <a:avLst/>
          </a:prstGeom>
          <a:noFill/>
        </p:spPr>
        <p:txBody>
          <a:bodyPr wrap="square">
            <a:spAutoFit/>
          </a:bodyPr>
          <a:lstStyle/>
          <a:p>
            <a:pPr algn="l"/>
            <a:r>
              <a:rPr sz="1300" b="1" i="0">
                <a:solidFill>
                  <a:srgbClr val="F7931A"/>
                </a:solidFill>
                <a:latin typeface="Arial"/>
              </a:rPr>
              <a:t>THE PAYMENT FLOW · STEP 2 OF 5</a:t>
            </a:r>
          </a:p>
        </p:txBody>
      </p:sp>
      <p:sp>
        <p:nvSpPr>
          <p:cNvPr id="3" name="TextBox 2"/>
          <p:cNvSpPr txBox="1"/>
          <p:nvPr/>
        </p:nvSpPr>
        <p:spPr>
          <a:xfrm>
            <a:off x="548640" y="502920"/>
            <a:ext cx="11064240" cy="777240"/>
          </a:xfrm>
          <a:prstGeom prst="rect">
            <a:avLst/>
          </a:prstGeom>
          <a:noFill/>
        </p:spPr>
        <p:txBody>
          <a:bodyPr wrap="square">
            <a:spAutoFit/>
          </a:bodyPr>
          <a:lstStyle/>
          <a:p>
            <a:pPr algn="l"/>
            <a:r>
              <a:rPr sz="2700" b="1" i="0">
                <a:solidFill>
                  <a:srgbClr val="F5F5F7"/>
                </a:solidFill>
                <a:latin typeface="Arial"/>
              </a:rPr>
              <a:t>② The LSP Holds It</a:t>
            </a:r>
          </a:p>
        </p:txBody>
      </p:sp>
      <p:sp>
        <p:nvSpPr>
          <p:cNvPr id="4" name="Rectangle 3"/>
          <p:cNvSpPr/>
          <p:nvPr/>
        </p:nvSpPr>
        <p:spPr>
          <a:xfrm>
            <a:off x="566928" y="1234440"/>
            <a:ext cx="1005840" cy="41148"/>
          </a:xfrm>
          <a:prstGeom prst="rect">
            <a:avLst/>
          </a:prstGeom>
          <a:solidFill>
            <a:srgbClr val="F7931A"/>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a:solidFill>
                  <a:srgbClr val="F5F5F7"/>
                </a:solidFill>
                <a:latin typeface="Arial"/>
              </a:rPr>
              <a:t/>
            </a:r>
          </a:p>
        </p:txBody>
      </p:sp>
      <p:sp>
        <p:nvSpPr>
          <p:cNvPr id="5" name="Rounded Rectangle 4"/>
          <p:cNvSpPr/>
          <p:nvPr/>
        </p:nvSpPr>
        <p:spPr>
          <a:xfrm>
            <a:off x="548639" y="594360"/>
            <a:ext cx="2377440" cy="64008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5F5F7"/>
                </a:solidFill>
                <a:latin typeface="Arial"/>
              </a:rPr>
              <a:t>💳 Payer</a:t>
            </a:r>
          </a:p>
        </p:txBody>
      </p:sp>
      <p:sp>
        <p:nvSpPr>
          <p:cNvPr id="6" name="Rounded Rectangle 5"/>
          <p:cNvSpPr/>
          <p:nvPr/>
        </p:nvSpPr>
        <p:spPr>
          <a:xfrm>
            <a:off x="4910328" y="594360"/>
            <a:ext cx="2377440" cy="64008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5F5F7"/>
                </a:solidFill>
                <a:latin typeface="Arial"/>
              </a:rPr>
              <a:t>🏦 LSP</a:t>
            </a:r>
          </a:p>
        </p:txBody>
      </p:sp>
      <p:sp>
        <p:nvSpPr>
          <p:cNvPr id="7" name="Rounded Rectangle 6"/>
          <p:cNvSpPr/>
          <p:nvPr/>
        </p:nvSpPr>
        <p:spPr>
          <a:xfrm>
            <a:off x="9235440" y="594360"/>
            <a:ext cx="2377440" cy="64008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5F5F7"/>
                </a:solidFill>
                <a:latin typeface="Arial"/>
              </a:rPr>
              <a:t>🏪 Merchant Node</a:t>
            </a:r>
          </a:p>
        </p:txBody>
      </p:sp>
      <p:cxnSp>
        <p:nvCxnSpPr>
          <p:cNvPr id="8" name="Connector 7"/>
          <p:cNvCxnSpPr/>
          <p:nvPr/>
        </p:nvCxnSpPr>
        <p:spPr>
          <a:xfrm>
            <a:off x="1737360" y="1261872"/>
            <a:ext cx="0" cy="4727448"/>
          </a:xfrm>
          <a:prstGeom prst="line">
            <a:avLst/>
          </a:prstGeom>
          <a:ln w="12700">
            <a:solidFill>
              <a:srgbClr val="3A4055"/>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1261872"/>
            <a:ext cx="0" cy="4727448"/>
          </a:xfrm>
          <a:prstGeom prst="line">
            <a:avLst/>
          </a:prstGeom>
          <a:ln w="12700">
            <a:solidFill>
              <a:srgbClr val="3A4055"/>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424160" y="1261872"/>
            <a:ext cx="0" cy="4727448"/>
          </a:xfrm>
          <a:prstGeom prst="line">
            <a:avLst/>
          </a:prstGeom>
          <a:ln w="12700">
            <a:solidFill>
              <a:srgbClr val="3A4055"/>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737360" y="1783080"/>
            <a:ext cx="4361688" cy="0"/>
          </a:xfrm>
          <a:prstGeom prst="line">
            <a:avLst/>
          </a:prstGeom>
          <a:ln w="1905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737360" y="1481328"/>
            <a:ext cx="4361688" cy="274320"/>
          </a:xfrm>
          <a:prstGeom prst="rect">
            <a:avLst/>
          </a:prstGeom>
          <a:noFill/>
        </p:spPr>
        <p:txBody>
          <a:bodyPr wrap="square">
            <a:spAutoFit/>
          </a:bodyPr>
          <a:lstStyle/>
          <a:p>
            <a:pPr algn="ctr"/>
            <a:r>
              <a:rPr sz="1250" b="0" i="0">
                <a:solidFill>
                  <a:srgbClr val="8B92A6"/>
                </a:solidFill>
                <a:latin typeface="Arial"/>
              </a:rPr>
              <a:t>① HTLC via phantom SCID</a:t>
            </a:r>
          </a:p>
        </p:txBody>
      </p:sp>
      <p:sp>
        <p:nvSpPr>
          <p:cNvPr id="13" name="Rounded Rectangle 12"/>
          <p:cNvSpPr/>
          <p:nvPr/>
        </p:nvSpPr>
        <p:spPr>
          <a:xfrm>
            <a:off x="4361688" y="2148840"/>
            <a:ext cx="3474720" cy="777240"/>
          </a:xfrm>
          <a:prstGeom prst="roundRect">
            <a:avLst/>
          </a:prstGeom>
          <a:solidFill>
            <a:srgbClr val="1E2438"/>
          </a:solidFill>
          <a:ln w="31750">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50" b="1">
                <a:solidFill>
                  <a:srgbClr val="F5F5F7"/>
                </a:solidFill>
                <a:latin typeface="Arial"/>
              </a:rPr>
              <a:t>② Holds HTLC — prepares funding tx</a:t>
            </a:r>
          </a:p>
          <a:p>
            <a:pPr algn="ctr"/>
            <a:r>
              <a:rPr sz="1250" b="1">
                <a:solidFill>
                  <a:srgbClr val="F5F5F7"/>
                </a:solidFill>
                <a:latin typeface="Arial"/>
              </a:rPr>
              <a:t>(does NOT broadcast)</a:t>
            </a:r>
          </a:p>
        </p:txBody>
      </p:sp>
      <p:sp>
        <p:nvSpPr>
          <p:cNvPr id="14" name="TextBox 13"/>
          <p:cNvSpPr txBox="1"/>
          <p:nvPr/>
        </p:nvSpPr>
        <p:spPr>
          <a:xfrm>
            <a:off x="548640" y="6492240"/>
            <a:ext cx="5486400" cy="274320"/>
          </a:xfrm>
          <a:prstGeom prst="rect">
            <a:avLst/>
          </a:prstGeom>
          <a:noFill/>
        </p:spPr>
        <p:txBody>
          <a:bodyPr wrap="square">
            <a:spAutoFit/>
          </a:bodyPr>
          <a:lstStyle/>
          <a:p>
            <a:pPr algn="l"/>
            <a:r>
              <a:rPr sz="900" b="0" i="0">
                <a:solidFill>
                  <a:srgbClr val="8B92A6"/>
                </a:solidFill>
                <a:latin typeface="Arial"/>
              </a:rPr>
              <a:t>LSPS2 Beyond Mobile</a:t>
            </a:r>
          </a:p>
        </p:txBody>
      </p:sp>
      <p:sp>
        <p:nvSpPr>
          <p:cNvPr id="15" name="TextBox 14"/>
          <p:cNvSpPr txBox="1"/>
          <p:nvPr/>
        </p:nvSpPr>
        <p:spPr>
          <a:xfrm>
            <a:off x="10424160" y="6492240"/>
            <a:ext cx="1280160" cy="274320"/>
          </a:xfrm>
          <a:prstGeom prst="rect">
            <a:avLst/>
          </a:prstGeom>
          <a:noFill/>
        </p:spPr>
        <p:txBody>
          <a:bodyPr wrap="square">
            <a:spAutoFit/>
          </a:bodyPr>
          <a:lstStyle/>
          <a:p>
            <a:pPr algn="r"/>
            <a:r>
              <a:rPr sz="900" b="0" i="0">
                <a:solidFill>
                  <a:srgbClr val="8B92A6"/>
                </a:solidFill>
                <a:latin typeface="Arial"/>
              </a:rPr>
              <a:t>6 /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548640" y="201168"/>
            <a:ext cx="10515600" cy="365760"/>
          </a:xfrm>
          <a:prstGeom prst="rect">
            <a:avLst/>
          </a:prstGeom>
          <a:noFill/>
        </p:spPr>
        <p:txBody>
          <a:bodyPr wrap="square">
            <a:spAutoFit/>
          </a:bodyPr>
          <a:lstStyle/>
          <a:p>
            <a:pPr algn="l"/>
            <a:r>
              <a:rPr sz="1300" b="1" i="0">
                <a:solidFill>
                  <a:srgbClr val="F7931A"/>
                </a:solidFill>
                <a:latin typeface="Arial"/>
              </a:rPr>
              <a:t>THE PAYMENT FLOW · STEP 3 OF 5</a:t>
            </a:r>
          </a:p>
        </p:txBody>
      </p:sp>
      <p:sp>
        <p:nvSpPr>
          <p:cNvPr id="3" name="TextBox 2"/>
          <p:cNvSpPr txBox="1"/>
          <p:nvPr/>
        </p:nvSpPr>
        <p:spPr>
          <a:xfrm>
            <a:off x="548640" y="502920"/>
            <a:ext cx="11064240" cy="777240"/>
          </a:xfrm>
          <a:prstGeom prst="rect">
            <a:avLst/>
          </a:prstGeom>
          <a:noFill/>
        </p:spPr>
        <p:txBody>
          <a:bodyPr wrap="square">
            <a:spAutoFit/>
          </a:bodyPr>
          <a:lstStyle/>
          <a:p>
            <a:pPr algn="l"/>
            <a:r>
              <a:rPr sz="2700" b="1" i="0">
                <a:solidFill>
                  <a:srgbClr val="F5F5F7"/>
                </a:solidFill>
                <a:latin typeface="Arial"/>
              </a:rPr>
              <a:t>③ A Zero-Conf Channel Opens</a:t>
            </a:r>
          </a:p>
        </p:txBody>
      </p:sp>
      <p:sp>
        <p:nvSpPr>
          <p:cNvPr id="4" name="Rectangle 3"/>
          <p:cNvSpPr/>
          <p:nvPr/>
        </p:nvSpPr>
        <p:spPr>
          <a:xfrm>
            <a:off x="566928" y="1234440"/>
            <a:ext cx="1005840" cy="41148"/>
          </a:xfrm>
          <a:prstGeom prst="rect">
            <a:avLst/>
          </a:prstGeom>
          <a:solidFill>
            <a:srgbClr val="F7931A"/>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a:solidFill>
                  <a:srgbClr val="F5F5F7"/>
                </a:solidFill>
                <a:latin typeface="Arial"/>
              </a:rPr>
              <a:t/>
            </a:r>
          </a:p>
        </p:txBody>
      </p:sp>
      <p:sp>
        <p:nvSpPr>
          <p:cNvPr id="5" name="Rounded Rectangle 4"/>
          <p:cNvSpPr/>
          <p:nvPr/>
        </p:nvSpPr>
        <p:spPr>
          <a:xfrm>
            <a:off x="548639" y="594360"/>
            <a:ext cx="2377440" cy="64008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5F5F7"/>
                </a:solidFill>
                <a:latin typeface="Arial"/>
              </a:rPr>
              <a:t>💳 Payer</a:t>
            </a:r>
          </a:p>
        </p:txBody>
      </p:sp>
      <p:sp>
        <p:nvSpPr>
          <p:cNvPr id="6" name="Rounded Rectangle 5"/>
          <p:cNvSpPr/>
          <p:nvPr/>
        </p:nvSpPr>
        <p:spPr>
          <a:xfrm>
            <a:off x="4910328" y="594360"/>
            <a:ext cx="2377440" cy="64008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5F5F7"/>
                </a:solidFill>
                <a:latin typeface="Arial"/>
              </a:rPr>
              <a:t>🏦 LSP</a:t>
            </a:r>
          </a:p>
        </p:txBody>
      </p:sp>
      <p:sp>
        <p:nvSpPr>
          <p:cNvPr id="7" name="Rounded Rectangle 6"/>
          <p:cNvSpPr/>
          <p:nvPr/>
        </p:nvSpPr>
        <p:spPr>
          <a:xfrm>
            <a:off x="9235440" y="594360"/>
            <a:ext cx="2377440" cy="64008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5F5F7"/>
                </a:solidFill>
                <a:latin typeface="Arial"/>
              </a:rPr>
              <a:t>🏪 Merchant Node</a:t>
            </a:r>
          </a:p>
        </p:txBody>
      </p:sp>
      <p:cxnSp>
        <p:nvCxnSpPr>
          <p:cNvPr id="8" name="Connector 7"/>
          <p:cNvCxnSpPr/>
          <p:nvPr/>
        </p:nvCxnSpPr>
        <p:spPr>
          <a:xfrm>
            <a:off x="1737360" y="1261872"/>
            <a:ext cx="0" cy="4727448"/>
          </a:xfrm>
          <a:prstGeom prst="line">
            <a:avLst/>
          </a:prstGeom>
          <a:ln w="12700">
            <a:solidFill>
              <a:srgbClr val="3A4055"/>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1261872"/>
            <a:ext cx="0" cy="4727448"/>
          </a:xfrm>
          <a:prstGeom prst="line">
            <a:avLst/>
          </a:prstGeom>
          <a:ln w="12700">
            <a:solidFill>
              <a:srgbClr val="3A4055"/>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424160" y="1261872"/>
            <a:ext cx="0" cy="4727448"/>
          </a:xfrm>
          <a:prstGeom prst="line">
            <a:avLst/>
          </a:prstGeom>
          <a:ln w="12700">
            <a:solidFill>
              <a:srgbClr val="3A4055"/>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737360" y="1783080"/>
            <a:ext cx="4361688" cy="0"/>
          </a:xfrm>
          <a:prstGeom prst="line">
            <a:avLst/>
          </a:prstGeom>
          <a:ln w="1905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737360" y="1481328"/>
            <a:ext cx="4361688" cy="274320"/>
          </a:xfrm>
          <a:prstGeom prst="rect">
            <a:avLst/>
          </a:prstGeom>
          <a:noFill/>
        </p:spPr>
        <p:txBody>
          <a:bodyPr wrap="square">
            <a:spAutoFit/>
          </a:bodyPr>
          <a:lstStyle/>
          <a:p>
            <a:pPr algn="ctr"/>
            <a:r>
              <a:rPr sz="1250" b="0" i="0">
                <a:solidFill>
                  <a:srgbClr val="8B92A6"/>
                </a:solidFill>
                <a:latin typeface="Arial"/>
              </a:rPr>
              <a:t>① HTLC via phantom SCID</a:t>
            </a:r>
          </a:p>
        </p:txBody>
      </p:sp>
      <p:sp>
        <p:nvSpPr>
          <p:cNvPr id="13" name="Rounded Rectangle 12"/>
          <p:cNvSpPr/>
          <p:nvPr/>
        </p:nvSpPr>
        <p:spPr>
          <a:xfrm>
            <a:off x="4361688" y="2148840"/>
            <a:ext cx="3474720" cy="777240"/>
          </a:xfrm>
          <a:prstGeom prst="roundRect">
            <a:avLst/>
          </a:prstGeom>
          <a:solidFill>
            <a:srgbClr val="171B29"/>
          </a:solidFill>
          <a:ln w="15875">
            <a:solidFill>
              <a:srgbClr val="8B92A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50" b="0">
                <a:solidFill>
                  <a:srgbClr val="F5F5F7"/>
                </a:solidFill>
                <a:latin typeface="Arial"/>
              </a:rPr>
              <a:t>② Holds HTLC — prepares funding tx</a:t>
            </a:r>
          </a:p>
          <a:p>
            <a:pPr algn="ctr"/>
            <a:r>
              <a:rPr sz="1250" b="0">
                <a:solidFill>
                  <a:srgbClr val="F5F5F7"/>
                </a:solidFill>
                <a:latin typeface="Arial"/>
              </a:rPr>
              <a:t>(does NOT broadcast)</a:t>
            </a:r>
          </a:p>
        </p:txBody>
      </p:sp>
      <p:cxnSp>
        <p:nvCxnSpPr>
          <p:cNvPr id="14" name="Connector 13"/>
          <p:cNvCxnSpPr/>
          <p:nvPr/>
        </p:nvCxnSpPr>
        <p:spPr>
          <a:xfrm>
            <a:off x="6099048" y="3246120"/>
            <a:ext cx="4325112" cy="0"/>
          </a:xfrm>
          <a:prstGeom prst="line">
            <a:avLst/>
          </a:prstGeom>
          <a:ln w="31750">
            <a:solidFill>
              <a:srgbClr val="F793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099048" y="2944368"/>
            <a:ext cx="4325112" cy="274320"/>
          </a:xfrm>
          <a:prstGeom prst="rect">
            <a:avLst/>
          </a:prstGeom>
          <a:noFill/>
        </p:spPr>
        <p:txBody>
          <a:bodyPr wrap="square">
            <a:spAutoFit/>
          </a:bodyPr>
          <a:lstStyle/>
          <a:p>
            <a:pPr algn="ctr"/>
            <a:r>
              <a:rPr sz="1250" b="1" i="0">
                <a:solidFill>
                  <a:srgbClr val="F7931A"/>
                </a:solidFill>
                <a:latin typeface="Arial"/>
              </a:rPr>
              <a:t>③ Opens zero-conf anchor channel</a:t>
            </a:r>
          </a:p>
        </p:txBody>
      </p:sp>
      <p:sp>
        <p:nvSpPr>
          <p:cNvPr id="16" name="Rounded Rectangle 15"/>
          <p:cNvSpPr/>
          <p:nvPr/>
        </p:nvSpPr>
        <p:spPr>
          <a:xfrm>
            <a:off x="5596128" y="3364992"/>
            <a:ext cx="5029200" cy="457200"/>
          </a:xfrm>
          <a:prstGeom prst="roundRect">
            <a:avLst/>
          </a:prstGeom>
          <a:solidFill>
            <a:srgbClr val="171B29"/>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1">
                <a:solidFill>
                  <a:srgbClr val="F5F5F7"/>
                </a:solidFill>
                <a:latin typeface="Arial"/>
              </a:rPr>
              <a:t>ChannelPending  →  ChannelReady</a:t>
            </a:r>
          </a:p>
        </p:txBody>
      </p:sp>
      <p:sp>
        <p:nvSpPr>
          <p:cNvPr id="17" name="TextBox 16"/>
          <p:cNvSpPr txBox="1"/>
          <p:nvPr/>
        </p:nvSpPr>
        <p:spPr>
          <a:xfrm>
            <a:off x="548640" y="6492240"/>
            <a:ext cx="5486400" cy="274320"/>
          </a:xfrm>
          <a:prstGeom prst="rect">
            <a:avLst/>
          </a:prstGeom>
          <a:noFill/>
        </p:spPr>
        <p:txBody>
          <a:bodyPr wrap="square">
            <a:spAutoFit/>
          </a:bodyPr>
          <a:lstStyle/>
          <a:p>
            <a:pPr algn="l"/>
            <a:r>
              <a:rPr sz="900" b="0" i="0">
                <a:solidFill>
                  <a:srgbClr val="8B92A6"/>
                </a:solidFill>
                <a:latin typeface="Arial"/>
              </a:rPr>
              <a:t>LSPS2 Beyond Mobile</a:t>
            </a:r>
          </a:p>
        </p:txBody>
      </p:sp>
      <p:sp>
        <p:nvSpPr>
          <p:cNvPr id="18" name="TextBox 17"/>
          <p:cNvSpPr txBox="1"/>
          <p:nvPr/>
        </p:nvSpPr>
        <p:spPr>
          <a:xfrm>
            <a:off x="10424160" y="6492240"/>
            <a:ext cx="1280160" cy="274320"/>
          </a:xfrm>
          <a:prstGeom prst="rect">
            <a:avLst/>
          </a:prstGeom>
          <a:noFill/>
        </p:spPr>
        <p:txBody>
          <a:bodyPr wrap="square">
            <a:spAutoFit/>
          </a:bodyPr>
          <a:lstStyle/>
          <a:p>
            <a:pPr algn="r"/>
            <a:r>
              <a:rPr sz="900" b="0" i="0">
                <a:solidFill>
                  <a:srgbClr val="8B92A6"/>
                </a:solidFill>
                <a:latin typeface="Arial"/>
              </a:rPr>
              <a:t>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548640" y="201168"/>
            <a:ext cx="10515600" cy="365760"/>
          </a:xfrm>
          <a:prstGeom prst="rect">
            <a:avLst/>
          </a:prstGeom>
          <a:noFill/>
        </p:spPr>
        <p:txBody>
          <a:bodyPr wrap="square">
            <a:spAutoFit/>
          </a:bodyPr>
          <a:lstStyle/>
          <a:p>
            <a:pPr algn="l"/>
            <a:r>
              <a:rPr sz="1300" b="1" i="0">
                <a:solidFill>
                  <a:srgbClr val="F7931A"/>
                </a:solidFill>
                <a:latin typeface="Arial"/>
              </a:rPr>
              <a:t>THE PAYMENT FLOW · STEP 4 OF 5</a:t>
            </a:r>
          </a:p>
        </p:txBody>
      </p:sp>
      <p:sp>
        <p:nvSpPr>
          <p:cNvPr id="3" name="TextBox 2"/>
          <p:cNvSpPr txBox="1"/>
          <p:nvPr/>
        </p:nvSpPr>
        <p:spPr>
          <a:xfrm>
            <a:off x="548640" y="502920"/>
            <a:ext cx="11064240" cy="777240"/>
          </a:xfrm>
          <a:prstGeom prst="rect">
            <a:avLst/>
          </a:prstGeom>
          <a:noFill/>
        </p:spPr>
        <p:txBody>
          <a:bodyPr wrap="square">
            <a:spAutoFit/>
          </a:bodyPr>
          <a:lstStyle/>
          <a:p>
            <a:pPr algn="l"/>
            <a:r>
              <a:rPr sz="2700" b="1" i="0">
                <a:solidFill>
                  <a:srgbClr val="F5F5F7"/>
                </a:solidFill>
                <a:latin typeface="Arial"/>
              </a:rPr>
              <a:t>④ The HTLC Is Forwarded</a:t>
            </a:r>
          </a:p>
        </p:txBody>
      </p:sp>
      <p:sp>
        <p:nvSpPr>
          <p:cNvPr id="4" name="Rectangle 3"/>
          <p:cNvSpPr/>
          <p:nvPr/>
        </p:nvSpPr>
        <p:spPr>
          <a:xfrm>
            <a:off x="566928" y="1234440"/>
            <a:ext cx="1005840" cy="41148"/>
          </a:xfrm>
          <a:prstGeom prst="rect">
            <a:avLst/>
          </a:prstGeom>
          <a:solidFill>
            <a:srgbClr val="F7931A"/>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a:solidFill>
                  <a:srgbClr val="F5F5F7"/>
                </a:solidFill>
                <a:latin typeface="Arial"/>
              </a:rPr>
              <a:t/>
            </a:r>
          </a:p>
        </p:txBody>
      </p:sp>
      <p:sp>
        <p:nvSpPr>
          <p:cNvPr id="5" name="Rounded Rectangle 4"/>
          <p:cNvSpPr/>
          <p:nvPr/>
        </p:nvSpPr>
        <p:spPr>
          <a:xfrm>
            <a:off x="548639" y="594360"/>
            <a:ext cx="2377440" cy="64008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5F5F7"/>
                </a:solidFill>
                <a:latin typeface="Arial"/>
              </a:rPr>
              <a:t>💳 Payer</a:t>
            </a:r>
          </a:p>
        </p:txBody>
      </p:sp>
      <p:sp>
        <p:nvSpPr>
          <p:cNvPr id="6" name="Rounded Rectangle 5"/>
          <p:cNvSpPr/>
          <p:nvPr/>
        </p:nvSpPr>
        <p:spPr>
          <a:xfrm>
            <a:off x="4910328" y="594360"/>
            <a:ext cx="2377440" cy="64008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5F5F7"/>
                </a:solidFill>
                <a:latin typeface="Arial"/>
              </a:rPr>
              <a:t>🏦 LSP</a:t>
            </a:r>
          </a:p>
        </p:txBody>
      </p:sp>
      <p:sp>
        <p:nvSpPr>
          <p:cNvPr id="7" name="Rounded Rectangle 6"/>
          <p:cNvSpPr/>
          <p:nvPr/>
        </p:nvSpPr>
        <p:spPr>
          <a:xfrm>
            <a:off x="9235440" y="594360"/>
            <a:ext cx="2377440" cy="64008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5F5F7"/>
                </a:solidFill>
                <a:latin typeface="Arial"/>
              </a:rPr>
              <a:t>🏪 Merchant Node</a:t>
            </a:r>
          </a:p>
        </p:txBody>
      </p:sp>
      <p:cxnSp>
        <p:nvCxnSpPr>
          <p:cNvPr id="8" name="Connector 7"/>
          <p:cNvCxnSpPr/>
          <p:nvPr/>
        </p:nvCxnSpPr>
        <p:spPr>
          <a:xfrm>
            <a:off x="1737360" y="1261872"/>
            <a:ext cx="0" cy="4727448"/>
          </a:xfrm>
          <a:prstGeom prst="line">
            <a:avLst/>
          </a:prstGeom>
          <a:ln w="12700">
            <a:solidFill>
              <a:srgbClr val="3A4055"/>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1261872"/>
            <a:ext cx="0" cy="4727448"/>
          </a:xfrm>
          <a:prstGeom prst="line">
            <a:avLst/>
          </a:prstGeom>
          <a:ln w="12700">
            <a:solidFill>
              <a:srgbClr val="3A4055"/>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424160" y="1261872"/>
            <a:ext cx="0" cy="4727448"/>
          </a:xfrm>
          <a:prstGeom prst="line">
            <a:avLst/>
          </a:prstGeom>
          <a:ln w="12700">
            <a:solidFill>
              <a:srgbClr val="3A4055"/>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737360" y="1783080"/>
            <a:ext cx="4361688" cy="0"/>
          </a:xfrm>
          <a:prstGeom prst="line">
            <a:avLst/>
          </a:prstGeom>
          <a:ln w="1905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737360" y="1481328"/>
            <a:ext cx="4361688" cy="274320"/>
          </a:xfrm>
          <a:prstGeom prst="rect">
            <a:avLst/>
          </a:prstGeom>
          <a:noFill/>
        </p:spPr>
        <p:txBody>
          <a:bodyPr wrap="square">
            <a:spAutoFit/>
          </a:bodyPr>
          <a:lstStyle/>
          <a:p>
            <a:pPr algn="ctr"/>
            <a:r>
              <a:rPr sz="1250" b="0" i="0">
                <a:solidFill>
                  <a:srgbClr val="8B92A6"/>
                </a:solidFill>
                <a:latin typeface="Arial"/>
              </a:rPr>
              <a:t>① HTLC via phantom SCID</a:t>
            </a:r>
          </a:p>
        </p:txBody>
      </p:sp>
      <p:sp>
        <p:nvSpPr>
          <p:cNvPr id="13" name="Rounded Rectangle 12"/>
          <p:cNvSpPr/>
          <p:nvPr/>
        </p:nvSpPr>
        <p:spPr>
          <a:xfrm>
            <a:off x="4361688" y="2148840"/>
            <a:ext cx="3474720" cy="777240"/>
          </a:xfrm>
          <a:prstGeom prst="roundRect">
            <a:avLst/>
          </a:prstGeom>
          <a:solidFill>
            <a:srgbClr val="171B29"/>
          </a:solidFill>
          <a:ln w="15875">
            <a:solidFill>
              <a:srgbClr val="8B92A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50" b="0">
                <a:solidFill>
                  <a:srgbClr val="F5F5F7"/>
                </a:solidFill>
                <a:latin typeface="Arial"/>
              </a:rPr>
              <a:t>② Holds HTLC — prepares funding tx</a:t>
            </a:r>
          </a:p>
          <a:p>
            <a:pPr algn="ctr"/>
            <a:r>
              <a:rPr sz="1250" b="0">
                <a:solidFill>
                  <a:srgbClr val="F5F5F7"/>
                </a:solidFill>
                <a:latin typeface="Arial"/>
              </a:rPr>
              <a:t>(does NOT broadcast)</a:t>
            </a:r>
          </a:p>
        </p:txBody>
      </p:sp>
      <p:cxnSp>
        <p:nvCxnSpPr>
          <p:cNvPr id="14" name="Connector 13"/>
          <p:cNvCxnSpPr/>
          <p:nvPr/>
        </p:nvCxnSpPr>
        <p:spPr>
          <a:xfrm>
            <a:off x="6099048" y="3246120"/>
            <a:ext cx="4325112" cy="0"/>
          </a:xfrm>
          <a:prstGeom prst="line">
            <a:avLst/>
          </a:prstGeom>
          <a:ln w="1905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099048" y="2944368"/>
            <a:ext cx="4325112" cy="274320"/>
          </a:xfrm>
          <a:prstGeom prst="rect">
            <a:avLst/>
          </a:prstGeom>
          <a:noFill/>
        </p:spPr>
        <p:txBody>
          <a:bodyPr wrap="square">
            <a:spAutoFit/>
          </a:bodyPr>
          <a:lstStyle/>
          <a:p>
            <a:pPr algn="ctr"/>
            <a:r>
              <a:rPr sz="1250" b="0" i="0">
                <a:solidFill>
                  <a:srgbClr val="8B92A6"/>
                </a:solidFill>
                <a:latin typeface="Arial"/>
              </a:rPr>
              <a:t>③ Opens zero-conf anchor channel</a:t>
            </a:r>
          </a:p>
        </p:txBody>
      </p:sp>
      <p:sp>
        <p:nvSpPr>
          <p:cNvPr id="16" name="Rounded Rectangle 15"/>
          <p:cNvSpPr/>
          <p:nvPr/>
        </p:nvSpPr>
        <p:spPr>
          <a:xfrm>
            <a:off x="5596128" y="3364992"/>
            <a:ext cx="5029200" cy="457200"/>
          </a:xfrm>
          <a:prstGeom prst="roundRect">
            <a:avLst/>
          </a:prstGeom>
          <a:solidFill>
            <a:srgbClr val="171B29"/>
          </a:solidFill>
          <a:ln w="15875">
            <a:solidFill>
              <a:srgbClr val="8B92A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a:solidFill>
                  <a:srgbClr val="F5F5F7"/>
                </a:solidFill>
                <a:latin typeface="Arial"/>
              </a:rPr>
              <a:t>ChannelPending  →  ChannelReady</a:t>
            </a:r>
          </a:p>
        </p:txBody>
      </p:sp>
      <p:cxnSp>
        <p:nvCxnSpPr>
          <p:cNvPr id="17" name="Connector 16"/>
          <p:cNvCxnSpPr/>
          <p:nvPr/>
        </p:nvCxnSpPr>
        <p:spPr>
          <a:xfrm>
            <a:off x="6099048" y="4251960"/>
            <a:ext cx="4325112" cy="0"/>
          </a:xfrm>
          <a:prstGeom prst="line">
            <a:avLst/>
          </a:prstGeom>
          <a:ln w="31750">
            <a:solidFill>
              <a:srgbClr val="F793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099048" y="3950208"/>
            <a:ext cx="4325112" cy="274320"/>
          </a:xfrm>
          <a:prstGeom prst="rect">
            <a:avLst/>
          </a:prstGeom>
          <a:noFill/>
        </p:spPr>
        <p:txBody>
          <a:bodyPr wrap="square">
            <a:spAutoFit/>
          </a:bodyPr>
          <a:lstStyle/>
          <a:p>
            <a:pPr algn="ctr"/>
            <a:r>
              <a:rPr sz="1250" b="1" i="0">
                <a:solidFill>
                  <a:srgbClr val="F7931A"/>
                </a:solidFill>
                <a:latin typeface="Arial"/>
              </a:rPr>
              <a:t>④ Forwards HTLC, minus fee</a:t>
            </a:r>
          </a:p>
        </p:txBody>
      </p:sp>
      <p:sp>
        <p:nvSpPr>
          <p:cNvPr id="19" name="Rounded Rectangle 18"/>
          <p:cNvSpPr/>
          <p:nvPr/>
        </p:nvSpPr>
        <p:spPr>
          <a:xfrm>
            <a:off x="8686800" y="4370832"/>
            <a:ext cx="3474720" cy="548640"/>
          </a:xfrm>
          <a:prstGeom prst="roundRect">
            <a:avLst/>
          </a:prstGeom>
          <a:solidFill>
            <a:srgbClr val="1E2438"/>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1">
                <a:solidFill>
                  <a:srgbClr val="F5F5F7"/>
                </a:solidFill>
                <a:latin typeface="Arial"/>
              </a:rPr>
              <a:t>PaymentReceived → reveals preimage</a:t>
            </a:r>
          </a:p>
        </p:txBody>
      </p:sp>
      <p:sp>
        <p:nvSpPr>
          <p:cNvPr id="20" name="TextBox 19"/>
          <p:cNvSpPr txBox="1"/>
          <p:nvPr/>
        </p:nvSpPr>
        <p:spPr>
          <a:xfrm>
            <a:off x="548640" y="6492240"/>
            <a:ext cx="5486400" cy="274320"/>
          </a:xfrm>
          <a:prstGeom prst="rect">
            <a:avLst/>
          </a:prstGeom>
          <a:noFill/>
        </p:spPr>
        <p:txBody>
          <a:bodyPr wrap="square">
            <a:spAutoFit/>
          </a:bodyPr>
          <a:lstStyle/>
          <a:p>
            <a:pPr algn="l"/>
            <a:r>
              <a:rPr sz="900" b="0" i="0">
                <a:solidFill>
                  <a:srgbClr val="8B92A6"/>
                </a:solidFill>
                <a:latin typeface="Arial"/>
              </a:rPr>
              <a:t>LSPS2 Beyond Mobile</a:t>
            </a:r>
          </a:p>
        </p:txBody>
      </p:sp>
      <p:sp>
        <p:nvSpPr>
          <p:cNvPr id="21" name="TextBox 20"/>
          <p:cNvSpPr txBox="1"/>
          <p:nvPr/>
        </p:nvSpPr>
        <p:spPr>
          <a:xfrm>
            <a:off x="10424160" y="6492240"/>
            <a:ext cx="1280160" cy="274320"/>
          </a:xfrm>
          <a:prstGeom prst="rect">
            <a:avLst/>
          </a:prstGeom>
          <a:noFill/>
        </p:spPr>
        <p:txBody>
          <a:bodyPr wrap="square">
            <a:spAutoFit/>
          </a:bodyPr>
          <a:lstStyle/>
          <a:p>
            <a:pPr algn="r"/>
            <a:r>
              <a:rPr sz="900" b="0" i="0">
                <a:solidFill>
                  <a:srgbClr val="8B92A6"/>
                </a:solidFill>
                <a:latin typeface="Arial"/>
              </a:rPr>
              <a:t>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548640" y="201168"/>
            <a:ext cx="10515600" cy="365760"/>
          </a:xfrm>
          <a:prstGeom prst="rect">
            <a:avLst/>
          </a:prstGeom>
          <a:noFill/>
        </p:spPr>
        <p:txBody>
          <a:bodyPr wrap="square">
            <a:spAutoFit/>
          </a:bodyPr>
          <a:lstStyle/>
          <a:p>
            <a:pPr algn="l"/>
            <a:r>
              <a:rPr sz="1300" b="1" i="0">
                <a:solidFill>
                  <a:srgbClr val="F7931A"/>
                </a:solidFill>
                <a:latin typeface="Arial"/>
              </a:rPr>
              <a:t>THE PAYMENT FLOW · STEP 5 OF 5</a:t>
            </a:r>
          </a:p>
        </p:txBody>
      </p:sp>
      <p:sp>
        <p:nvSpPr>
          <p:cNvPr id="3" name="TextBox 2"/>
          <p:cNvSpPr txBox="1"/>
          <p:nvPr/>
        </p:nvSpPr>
        <p:spPr>
          <a:xfrm>
            <a:off x="548640" y="502920"/>
            <a:ext cx="11064240" cy="777240"/>
          </a:xfrm>
          <a:prstGeom prst="rect">
            <a:avLst/>
          </a:prstGeom>
          <a:noFill/>
        </p:spPr>
        <p:txBody>
          <a:bodyPr wrap="square">
            <a:spAutoFit/>
          </a:bodyPr>
          <a:lstStyle/>
          <a:p>
            <a:pPr algn="l"/>
            <a:r>
              <a:rPr sz="2700" b="1" i="0">
                <a:solidFill>
                  <a:srgbClr val="F5F5F7"/>
                </a:solidFill>
                <a:latin typeface="Arial"/>
              </a:rPr>
              <a:t>⑤ Only Now: Broadcast &amp; Settle</a:t>
            </a:r>
          </a:p>
        </p:txBody>
      </p:sp>
      <p:sp>
        <p:nvSpPr>
          <p:cNvPr id="4" name="Rectangle 3"/>
          <p:cNvSpPr/>
          <p:nvPr/>
        </p:nvSpPr>
        <p:spPr>
          <a:xfrm>
            <a:off x="566928" y="1234440"/>
            <a:ext cx="1005840" cy="41148"/>
          </a:xfrm>
          <a:prstGeom prst="rect">
            <a:avLst/>
          </a:prstGeom>
          <a:solidFill>
            <a:srgbClr val="F7931A"/>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a:solidFill>
                  <a:srgbClr val="F5F5F7"/>
                </a:solidFill>
                <a:latin typeface="Arial"/>
              </a:rPr>
              <a:t/>
            </a:r>
          </a:p>
        </p:txBody>
      </p:sp>
      <p:sp>
        <p:nvSpPr>
          <p:cNvPr id="5" name="Rounded Rectangle 4"/>
          <p:cNvSpPr/>
          <p:nvPr/>
        </p:nvSpPr>
        <p:spPr>
          <a:xfrm>
            <a:off x="548639" y="594360"/>
            <a:ext cx="2377440" cy="64008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5F5F7"/>
                </a:solidFill>
                <a:latin typeface="Arial"/>
              </a:rPr>
              <a:t>💳 Payer</a:t>
            </a:r>
          </a:p>
        </p:txBody>
      </p:sp>
      <p:sp>
        <p:nvSpPr>
          <p:cNvPr id="6" name="Rounded Rectangle 5"/>
          <p:cNvSpPr/>
          <p:nvPr/>
        </p:nvSpPr>
        <p:spPr>
          <a:xfrm>
            <a:off x="4910328" y="594360"/>
            <a:ext cx="2377440" cy="64008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5F5F7"/>
                </a:solidFill>
                <a:latin typeface="Arial"/>
              </a:rPr>
              <a:t>🏦 LSP</a:t>
            </a:r>
          </a:p>
        </p:txBody>
      </p:sp>
      <p:sp>
        <p:nvSpPr>
          <p:cNvPr id="7" name="Rounded Rectangle 6"/>
          <p:cNvSpPr/>
          <p:nvPr/>
        </p:nvSpPr>
        <p:spPr>
          <a:xfrm>
            <a:off x="9235440" y="594360"/>
            <a:ext cx="2377440" cy="64008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5F5F7"/>
                </a:solidFill>
                <a:latin typeface="Arial"/>
              </a:rPr>
              <a:t>🏪 Merchant Node</a:t>
            </a:r>
          </a:p>
        </p:txBody>
      </p:sp>
      <p:cxnSp>
        <p:nvCxnSpPr>
          <p:cNvPr id="8" name="Connector 7"/>
          <p:cNvCxnSpPr/>
          <p:nvPr/>
        </p:nvCxnSpPr>
        <p:spPr>
          <a:xfrm>
            <a:off x="1737360" y="1261872"/>
            <a:ext cx="0" cy="4727448"/>
          </a:xfrm>
          <a:prstGeom prst="line">
            <a:avLst/>
          </a:prstGeom>
          <a:ln w="12700">
            <a:solidFill>
              <a:srgbClr val="3A4055"/>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1261872"/>
            <a:ext cx="0" cy="4727448"/>
          </a:xfrm>
          <a:prstGeom prst="line">
            <a:avLst/>
          </a:prstGeom>
          <a:ln w="12700">
            <a:solidFill>
              <a:srgbClr val="3A4055"/>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424160" y="1261872"/>
            <a:ext cx="0" cy="4727448"/>
          </a:xfrm>
          <a:prstGeom prst="line">
            <a:avLst/>
          </a:prstGeom>
          <a:ln w="12700">
            <a:solidFill>
              <a:srgbClr val="3A4055"/>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737360" y="1783080"/>
            <a:ext cx="4361688" cy="0"/>
          </a:xfrm>
          <a:prstGeom prst="line">
            <a:avLst/>
          </a:prstGeom>
          <a:ln w="1905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737360" y="1481328"/>
            <a:ext cx="4361688" cy="274320"/>
          </a:xfrm>
          <a:prstGeom prst="rect">
            <a:avLst/>
          </a:prstGeom>
          <a:noFill/>
        </p:spPr>
        <p:txBody>
          <a:bodyPr wrap="square">
            <a:spAutoFit/>
          </a:bodyPr>
          <a:lstStyle/>
          <a:p>
            <a:pPr algn="ctr"/>
            <a:r>
              <a:rPr sz="1250" b="0" i="0">
                <a:solidFill>
                  <a:srgbClr val="8B92A6"/>
                </a:solidFill>
                <a:latin typeface="Arial"/>
              </a:rPr>
              <a:t>① HTLC via phantom SCID</a:t>
            </a:r>
          </a:p>
        </p:txBody>
      </p:sp>
      <p:sp>
        <p:nvSpPr>
          <p:cNvPr id="13" name="Rounded Rectangle 12"/>
          <p:cNvSpPr/>
          <p:nvPr/>
        </p:nvSpPr>
        <p:spPr>
          <a:xfrm>
            <a:off x="4361688" y="2148840"/>
            <a:ext cx="3474720" cy="777240"/>
          </a:xfrm>
          <a:prstGeom prst="roundRect">
            <a:avLst/>
          </a:prstGeom>
          <a:solidFill>
            <a:srgbClr val="171B29"/>
          </a:solidFill>
          <a:ln w="15875">
            <a:solidFill>
              <a:srgbClr val="8B92A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50" b="0">
                <a:solidFill>
                  <a:srgbClr val="F5F5F7"/>
                </a:solidFill>
                <a:latin typeface="Arial"/>
              </a:rPr>
              <a:t>② Holds HTLC — prepares funding tx</a:t>
            </a:r>
          </a:p>
          <a:p>
            <a:pPr algn="ctr"/>
            <a:r>
              <a:rPr sz="1250" b="0">
                <a:solidFill>
                  <a:srgbClr val="F5F5F7"/>
                </a:solidFill>
                <a:latin typeface="Arial"/>
              </a:rPr>
              <a:t>(does NOT broadcast)</a:t>
            </a:r>
          </a:p>
        </p:txBody>
      </p:sp>
      <p:cxnSp>
        <p:nvCxnSpPr>
          <p:cNvPr id="14" name="Connector 13"/>
          <p:cNvCxnSpPr/>
          <p:nvPr/>
        </p:nvCxnSpPr>
        <p:spPr>
          <a:xfrm>
            <a:off x="6099048" y="3246120"/>
            <a:ext cx="4325112" cy="0"/>
          </a:xfrm>
          <a:prstGeom prst="line">
            <a:avLst/>
          </a:prstGeom>
          <a:ln w="1905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099048" y="2944368"/>
            <a:ext cx="4325112" cy="274320"/>
          </a:xfrm>
          <a:prstGeom prst="rect">
            <a:avLst/>
          </a:prstGeom>
          <a:noFill/>
        </p:spPr>
        <p:txBody>
          <a:bodyPr wrap="square">
            <a:spAutoFit/>
          </a:bodyPr>
          <a:lstStyle/>
          <a:p>
            <a:pPr algn="ctr"/>
            <a:r>
              <a:rPr sz="1250" b="0" i="0">
                <a:solidFill>
                  <a:srgbClr val="8B92A6"/>
                </a:solidFill>
                <a:latin typeface="Arial"/>
              </a:rPr>
              <a:t>③ Opens zero-conf anchor channel</a:t>
            </a:r>
          </a:p>
        </p:txBody>
      </p:sp>
      <p:sp>
        <p:nvSpPr>
          <p:cNvPr id="16" name="Rounded Rectangle 15"/>
          <p:cNvSpPr/>
          <p:nvPr/>
        </p:nvSpPr>
        <p:spPr>
          <a:xfrm>
            <a:off x="5596128" y="3364992"/>
            <a:ext cx="5029200" cy="457200"/>
          </a:xfrm>
          <a:prstGeom prst="roundRect">
            <a:avLst/>
          </a:prstGeom>
          <a:solidFill>
            <a:srgbClr val="171B29"/>
          </a:solidFill>
          <a:ln w="15875">
            <a:solidFill>
              <a:srgbClr val="8B92A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a:solidFill>
                  <a:srgbClr val="F5F5F7"/>
                </a:solidFill>
                <a:latin typeface="Arial"/>
              </a:rPr>
              <a:t>ChannelPending  →  ChannelReady</a:t>
            </a:r>
          </a:p>
        </p:txBody>
      </p:sp>
      <p:cxnSp>
        <p:nvCxnSpPr>
          <p:cNvPr id="17" name="Connector 16"/>
          <p:cNvCxnSpPr/>
          <p:nvPr/>
        </p:nvCxnSpPr>
        <p:spPr>
          <a:xfrm>
            <a:off x="6099048" y="4251960"/>
            <a:ext cx="4325112" cy="0"/>
          </a:xfrm>
          <a:prstGeom prst="line">
            <a:avLst/>
          </a:prstGeom>
          <a:ln w="1905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099048" y="3950208"/>
            <a:ext cx="4325112" cy="274320"/>
          </a:xfrm>
          <a:prstGeom prst="rect">
            <a:avLst/>
          </a:prstGeom>
          <a:noFill/>
        </p:spPr>
        <p:txBody>
          <a:bodyPr wrap="square">
            <a:spAutoFit/>
          </a:bodyPr>
          <a:lstStyle/>
          <a:p>
            <a:pPr algn="ctr"/>
            <a:r>
              <a:rPr sz="1250" b="0" i="0">
                <a:solidFill>
                  <a:srgbClr val="8B92A6"/>
                </a:solidFill>
                <a:latin typeface="Arial"/>
              </a:rPr>
              <a:t>④ Forwards HTLC, minus fee</a:t>
            </a:r>
          </a:p>
        </p:txBody>
      </p:sp>
      <p:sp>
        <p:nvSpPr>
          <p:cNvPr id="19" name="Rounded Rectangle 18"/>
          <p:cNvSpPr/>
          <p:nvPr/>
        </p:nvSpPr>
        <p:spPr>
          <a:xfrm>
            <a:off x="8686800" y="4370832"/>
            <a:ext cx="3474720" cy="548640"/>
          </a:xfrm>
          <a:prstGeom prst="roundRect">
            <a:avLst/>
          </a:prstGeom>
          <a:solidFill>
            <a:srgbClr val="171B29"/>
          </a:solidFill>
          <a:ln w="15875">
            <a:solidFill>
              <a:srgbClr val="8B92A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a:solidFill>
                  <a:srgbClr val="F5F5F7"/>
                </a:solidFill>
                <a:latin typeface="Arial"/>
              </a:rPr>
              <a:t>PaymentReceived → reveals preimage</a:t>
            </a:r>
          </a:p>
        </p:txBody>
      </p:sp>
      <p:cxnSp>
        <p:nvCxnSpPr>
          <p:cNvPr id="20" name="Connector 19"/>
          <p:cNvCxnSpPr/>
          <p:nvPr/>
        </p:nvCxnSpPr>
        <p:spPr>
          <a:xfrm>
            <a:off x="6099048" y="5074920"/>
            <a:ext cx="0" cy="411480"/>
          </a:xfrm>
          <a:prstGeom prst="line">
            <a:avLst/>
          </a:prstGeom>
          <a:ln w="31750">
            <a:solidFill>
              <a:srgbClr val="F793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544568" y="5486400"/>
            <a:ext cx="3108960" cy="502920"/>
          </a:xfrm>
          <a:prstGeom prst="roundRect">
            <a:avLst/>
          </a:prstGeom>
          <a:solidFill>
            <a:srgbClr val="1E2438"/>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a:solidFill>
                  <a:srgbClr val="F5F5F7"/>
                </a:solidFill>
                <a:latin typeface="Arial"/>
              </a:rPr>
              <a:t>⛓  Broadcasts funding tx NOW</a:t>
            </a:r>
          </a:p>
        </p:txBody>
      </p:sp>
      <p:sp>
        <p:nvSpPr>
          <p:cNvPr id="22" name="Rounded Rectangle 21"/>
          <p:cNvSpPr/>
          <p:nvPr/>
        </p:nvSpPr>
        <p:spPr>
          <a:xfrm>
            <a:off x="548640" y="6172200"/>
            <a:ext cx="11091672" cy="502920"/>
          </a:xfrm>
          <a:prstGeom prst="roundRect">
            <a:avLst/>
          </a:prstGeom>
          <a:solidFill>
            <a:srgbClr val="1E2438"/>
          </a:solidFill>
          <a:ln w="1587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50" b="1">
                <a:solidFill>
                  <a:srgbClr val="F5F5F7"/>
                </a:solidFill>
                <a:latin typeface="Arial"/>
              </a:rPr>
              <a:t>✅  Settled. No on-chain cost if no payment arrives — the channel only exists because a payment paid for it.</a:t>
            </a:r>
          </a:p>
        </p:txBody>
      </p:sp>
      <p:sp>
        <p:nvSpPr>
          <p:cNvPr id="23" name="TextBox 22"/>
          <p:cNvSpPr txBox="1"/>
          <p:nvPr/>
        </p:nvSpPr>
        <p:spPr>
          <a:xfrm>
            <a:off x="548640" y="6492240"/>
            <a:ext cx="5486400" cy="274320"/>
          </a:xfrm>
          <a:prstGeom prst="rect">
            <a:avLst/>
          </a:prstGeom>
          <a:noFill/>
        </p:spPr>
        <p:txBody>
          <a:bodyPr wrap="square">
            <a:spAutoFit/>
          </a:bodyPr>
          <a:lstStyle/>
          <a:p>
            <a:pPr algn="l"/>
            <a:r>
              <a:rPr sz="900" b="0" i="0">
                <a:solidFill>
                  <a:srgbClr val="8B92A6"/>
                </a:solidFill>
                <a:latin typeface="Arial"/>
              </a:rPr>
              <a:t>LSPS2 Beyond Mobile</a:t>
            </a:r>
          </a:p>
        </p:txBody>
      </p:sp>
      <p:sp>
        <p:nvSpPr>
          <p:cNvPr id="24" name="TextBox 23"/>
          <p:cNvSpPr txBox="1"/>
          <p:nvPr/>
        </p:nvSpPr>
        <p:spPr>
          <a:xfrm>
            <a:off x="10424160" y="6492240"/>
            <a:ext cx="1280160" cy="274320"/>
          </a:xfrm>
          <a:prstGeom prst="rect">
            <a:avLst/>
          </a:prstGeom>
          <a:noFill/>
        </p:spPr>
        <p:txBody>
          <a:bodyPr wrap="square">
            <a:spAutoFit/>
          </a:bodyPr>
          <a:lstStyle/>
          <a:p>
            <a:pPr algn="r"/>
            <a:r>
              <a:rPr sz="900" b="0" i="0">
                <a:solidFill>
                  <a:srgbClr val="8B92A6"/>
                </a:solidFill>
                <a:latin typeface="Arial"/>
              </a:rPr>
              <a:t>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548640" y="201168"/>
            <a:ext cx="10515600" cy="365760"/>
          </a:xfrm>
          <a:prstGeom prst="rect">
            <a:avLst/>
          </a:prstGeom>
          <a:noFill/>
        </p:spPr>
        <p:txBody>
          <a:bodyPr wrap="square">
            <a:spAutoFit/>
          </a:bodyPr>
          <a:lstStyle/>
          <a:p>
            <a:pPr algn="l"/>
            <a:r>
              <a:rPr sz="1300" b="1" i="0">
                <a:solidFill>
                  <a:srgbClr val="F7931A"/>
                </a:solidFill>
                <a:latin typeface="Arial"/>
              </a:rPr>
              <a:t>ARCHITECTURE</a:t>
            </a:r>
          </a:p>
        </p:txBody>
      </p:sp>
      <p:sp>
        <p:nvSpPr>
          <p:cNvPr id="3" name="TextBox 2"/>
          <p:cNvSpPr txBox="1"/>
          <p:nvPr/>
        </p:nvSpPr>
        <p:spPr>
          <a:xfrm>
            <a:off x="548640" y="502920"/>
            <a:ext cx="11064240" cy="777240"/>
          </a:xfrm>
          <a:prstGeom prst="rect">
            <a:avLst/>
          </a:prstGeom>
          <a:noFill/>
        </p:spPr>
        <p:txBody>
          <a:bodyPr wrap="square">
            <a:spAutoFit/>
          </a:bodyPr>
          <a:lstStyle/>
          <a:p>
            <a:pPr algn="l"/>
            <a:r>
              <a:rPr sz="3000" b="1" i="0">
                <a:solidFill>
                  <a:srgbClr val="F5F5F7"/>
                </a:solidFill>
                <a:latin typeface="Arial"/>
              </a:rPr>
              <a:t>How We Built It: node-service</a:t>
            </a:r>
          </a:p>
        </p:txBody>
      </p:sp>
      <p:sp>
        <p:nvSpPr>
          <p:cNvPr id="4" name="Rectangle 3"/>
          <p:cNvSpPr/>
          <p:nvPr/>
        </p:nvSpPr>
        <p:spPr>
          <a:xfrm>
            <a:off x="566928" y="1234440"/>
            <a:ext cx="1005840" cy="41148"/>
          </a:xfrm>
          <a:prstGeom prst="rect">
            <a:avLst/>
          </a:prstGeom>
          <a:solidFill>
            <a:srgbClr val="F7931A"/>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a:solidFill>
                  <a:srgbClr val="F5F5F7"/>
                </a:solidFill>
                <a:latin typeface="Arial"/>
              </a:rPr>
              <a:t/>
            </a:r>
          </a:p>
        </p:txBody>
      </p:sp>
      <p:sp>
        <p:nvSpPr>
          <p:cNvPr id="5" name="Rounded Rectangle 4"/>
          <p:cNvSpPr/>
          <p:nvPr/>
        </p:nvSpPr>
        <p:spPr>
          <a:xfrm>
            <a:off x="457200" y="2468880"/>
            <a:ext cx="2423160" cy="155448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350" b="0">
                <a:solidFill>
                  <a:srgbClr val="F5F5F7"/>
                </a:solidFill>
                <a:latin typeface="Arial"/>
              </a:rPr>
              <a:t>⚛️  Next.js App</a:t>
            </a:r>
          </a:p>
          <a:p>
            <a:pPr algn="ctr"/>
            <a:r>
              <a:rPr sz="1350" b="0">
                <a:solidFill>
                  <a:srgbClr val="F5F5F7"/>
                </a:solidFill>
                <a:latin typeface="Arial"/>
              </a:rPr>
              <a:t/>
            </a:r>
          </a:p>
          <a:p>
            <a:pPr algn="ctr"/>
            <a:r>
              <a:rPr sz="1350" b="0">
                <a:solidFill>
                  <a:srgbClr val="F5F5F7"/>
                </a:solidFill>
                <a:latin typeface="Arial"/>
              </a:rPr>
              <a:t>&lt;LightningCheckout/&gt;</a:t>
            </a:r>
          </a:p>
        </p:txBody>
      </p:sp>
      <p:cxnSp>
        <p:nvCxnSpPr>
          <p:cNvPr id="6" name="Connector 5"/>
          <p:cNvCxnSpPr/>
          <p:nvPr/>
        </p:nvCxnSpPr>
        <p:spPr>
          <a:xfrm>
            <a:off x="2880360" y="3246120"/>
            <a:ext cx="640080" cy="0"/>
          </a:xfrm>
          <a:prstGeom prst="line">
            <a:avLst/>
          </a:prstGeom>
          <a:ln w="2540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788920" y="2880360"/>
            <a:ext cx="914400" cy="274320"/>
          </a:xfrm>
          <a:prstGeom prst="rect">
            <a:avLst/>
          </a:prstGeom>
          <a:noFill/>
        </p:spPr>
        <p:txBody>
          <a:bodyPr wrap="square">
            <a:spAutoFit/>
          </a:bodyPr>
          <a:lstStyle/>
          <a:p>
            <a:pPr algn="ctr"/>
            <a:r>
              <a:rPr sz="1050" b="0" i="0">
                <a:solidFill>
                  <a:srgbClr val="8B92A6"/>
                </a:solidFill>
                <a:latin typeface="Arial"/>
              </a:rPr>
              <a:t>HTTP</a:t>
            </a:r>
          </a:p>
        </p:txBody>
      </p:sp>
      <p:sp>
        <p:nvSpPr>
          <p:cNvPr id="8" name="Rounded Rectangle 7"/>
          <p:cNvSpPr/>
          <p:nvPr/>
        </p:nvSpPr>
        <p:spPr>
          <a:xfrm>
            <a:off x="3520440" y="1874519"/>
            <a:ext cx="4160520" cy="2743200"/>
          </a:xfrm>
          <a:prstGeom prst="roundRect">
            <a:avLst/>
          </a:prstGeom>
          <a:solidFill>
            <a:srgbClr val="171B29"/>
          </a:solidFill>
          <a:ln w="25400">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a:solidFill>
                  <a:srgbClr val="F5F5F7"/>
                </a:solidFill>
                <a:latin typeface="Arial"/>
              </a:rPr>
              <a:t/>
            </a:r>
          </a:p>
        </p:txBody>
      </p:sp>
      <p:sp>
        <p:nvSpPr>
          <p:cNvPr id="9" name="TextBox 8"/>
          <p:cNvSpPr txBox="1"/>
          <p:nvPr/>
        </p:nvSpPr>
        <p:spPr>
          <a:xfrm>
            <a:off x="3611880" y="1965960"/>
            <a:ext cx="3977639" cy="365760"/>
          </a:xfrm>
          <a:prstGeom prst="rect">
            <a:avLst/>
          </a:prstGeom>
          <a:noFill/>
        </p:spPr>
        <p:txBody>
          <a:bodyPr wrap="square">
            <a:spAutoFit/>
          </a:bodyPr>
          <a:lstStyle/>
          <a:p>
            <a:pPr algn="ctr"/>
            <a:r>
              <a:rPr sz="1400" b="1" i="0">
                <a:solidFill>
                  <a:srgbClr val="F5F5F7"/>
                </a:solidFill>
                <a:latin typeface="Arial"/>
              </a:rPr>
              <a:t>🦀 node-service (Rust + Axum)</a:t>
            </a:r>
          </a:p>
        </p:txBody>
      </p:sp>
      <p:sp>
        <p:nvSpPr>
          <p:cNvPr id="10" name="Rounded Rectangle 9"/>
          <p:cNvSpPr/>
          <p:nvPr/>
        </p:nvSpPr>
        <p:spPr>
          <a:xfrm>
            <a:off x="3749039" y="2514600"/>
            <a:ext cx="3703320" cy="777240"/>
          </a:xfrm>
          <a:prstGeom prst="roundRect">
            <a:avLst/>
          </a:prstGeom>
          <a:solidFill>
            <a:srgbClr val="1E2438"/>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50" b="0">
                <a:solidFill>
                  <a:srgbClr val="F5F5F7"/>
                </a:solidFill>
                <a:latin typeface="Arial"/>
              </a:rPr>
              <a:t>POST /api/invoice</a:t>
            </a:r>
          </a:p>
          <a:p>
            <a:pPr algn="ctr"/>
            <a:r>
              <a:rPr sz="1150" b="0">
                <a:solidFill>
                  <a:srgbClr val="F5F5F7"/>
                </a:solidFill>
                <a:latin typeface="Arial"/>
              </a:rPr>
              <a:t>full LSPS2 negotiation internally</a:t>
            </a:r>
          </a:p>
        </p:txBody>
      </p:sp>
      <p:sp>
        <p:nvSpPr>
          <p:cNvPr id="11" name="Rounded Rectangle 10"/>
          <p:cNvSpPr/>
          <p:nvPr/>
        </p:nvSpPr>
        <p:spPr>
          <a:xfrm>
            <a:off x="3749039" y="3429000"/>
            <a:ext cx="3703320" cy="777240"/>
          </a:xfrm>
          <a:prstGeom prst="roundRect">
            <a:avLst/>
          </a:prstGeom>
          <a:solidFill>
            <a:srgbClr val="1E2438"/>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50" b="0">
                <a:solidFill>
                  <a:srgbClr val="F5F5F7"/>
                </a:solidFill>
                <a:latin typeface="Arial"/>
              </a:rPr>
              <a:t>GET /api/invoice/:hash</a:t>
            </a:r>
          </a:p>
          <a:p>
            <a:pPr algn="ctr"/>
            <a:r>
              <a:rPr sz="1150" b="0">
                <a:solidFill>
                  <a:srgbClr val="F5F5F7"/>
                </a:solidFill>
                <a:latin typeface="Arial"/>
              </a:rPr>
              <a:t>pending · opening_channel · succeeded</a:t>
            </a:r>
          </a:p>
        </p:txBody>
      </p:sp>
      <p:cxnSp>
        <p:nvCxnSpPr>
          <p:cNvPr id="12" name="Connector 11"/>
          <p:cNvCxnSpPr/>
          <p:nvPr/>
        </p:nvCxnSpPr>
        <p:spPr>
          <a:xfrm>
            <a:off x="7680960" y="3246120"/>
            <a:ext cx="594360" cy="0"/>
          </a:xfrm>
          <a:prstGeom prst="line">
            <a:avLst/>
          </a:prstGeom>
          <a:ln w="2540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589520" y="2880360"/>
            <a:ext cx="914400" cy="274320"/>
          </a:xfrm>
          <a:prstGeom prst="rect">
            <a:avLst/>
          </a:prstGeom>
          <a:noFill/>
        </p:spPr>
        <p:txBody>
          <a:bodyPr wrap="square">
            <a:spAutoFit/>
          </a:bodyPr>
          <a:lstStyle/>
          <a:p>
            <a:pPr algn="ctr"/>
            <a:r>
              <a:rPr sz="1050" b="0" i="0">
                <a:solidFill>
                  <a:srgbClr val="8B92A6"/>
                </a:solidFill>
                <a:latin typeface="Arial"/>
              </a:rPr>
              <a:t>wraps</a:t>
            </a:r>
          </a:p>
        </p:txBody>
      </p:sp>
      <p:sp>
        <p:nvSpPr>
          <p:cNvPr id="14" name="Rounded Rectangle 13"/>
          <p:cNvSpPr/>
          <p:nvPr/>
        </p:nvSpPr>
        <p:spPr>
          <a:xfrm>
            <a:off x="8275320" y="2788920"/>
            <a:ext cx="1783080" cy="91440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50" b="0">
                <a:solidFill>
                  <a:srgbClr val="F5F5F7"/>
                </a:solidFill>
                <a:latin typeface="Arial"/>
              </a:rPr>
              <a:t>⚙️ ldk-node</a:t>
            </a:r>
          </a:p>
        </p:txBody>
      </p:sp>
      <p:cxnSp>
        <p:nvCxnSpPr>
          <p:cNvPr id="15" name="Connector 14"/>
          <p:cNvCxnSpPr/>
          <p:nvPr/>
        </p:nvCxnSpPr>
        <p:spPr>
          <a:xfrm flipV="1">
            <a:off x="10058400" y="1417319"/>
            <a:ext cx="502920" cy="1691641"/>
          </a:xfrm>
          <a:prstGeom prst="line">
            <a:avLst/>
          </a:prstGeom>
          <a:ln w="1905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561320" y="1051560"/>
            <a:ext cx="1417320" cy="777240"/>
          </a:xfrm>
          <a:prstGeom prst="roundRect">
            <a:avLst/>
          </a:prstGeom>
          <a:solidFill>
            <a:srgbClr val="171B29"/>
          </a:solidFill>
          <a:ln w="1587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a:solidFill>
                  <a:srgbClr val="F5F5F7"/>
                </a:solidFill>
                <a:latin typeface="Arial"/>
              </a:rPr>
              <a:t>LSP_1</a:t>
            </a:r>
          </a:p>
        </p:txBody>
      </p:sp>
      <p:cxnSp>
        <p:nvCxnSpPr>
          <p:cNvPr id="17" name="Connector 16"/>
          <p:cNvCxnSpPr/>
          <p:nvPr/>
        </p:nvCxnSpPr>
        <p:spPr>
          <a:xfrm flipV="1">
            <a:off x="10058400" y="2788920"/>
            <a:ext cx="502920" cy="320040"/>
          </a:xfrm>
          <a:prstGeom prst="line">
            <a:avLst/>
          </a:prstGeom>
          <a:ln w="1905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0561320" y="2423160"/>
            <a:ext cx="1417320" cy="777240"/>
          </a:xfrm>
          <a:prstGeom prst="roundRect">
            <a:avLst/>
          </a:prstGeom>
          <a:solidFill>
            <a:srgbClr val="171B29"/>
          </a:solidFill>
          <a:ln w="1587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a:solidFill>
                  <a:srgbClr val="F5F5F7"/>
                </a:solidFill>
                <a:latin typeface="Arial"/>
              </a:rPr>
              <a:t>LSP_2</a:t>
            </a:r>
          </a:p>
        </p:txBody>
      </p:sp>
      <p:cxnSp>
        <p:nvCxnSpPr>
          <p:cNvPr id="19" name="Connector 18"/>
          <p:cNvCxnSpPr/>
          <p:nvPr/>
        </p:nvCxnSpPr>
        <p:spPr>
          <a:xfrm>
            <a:off x="10058400" y="3108960"/>
            <a:ext cx="502920" cy="1051560"/>
          </a:xfrm>
          <a:prstGeom prst="line">
            <a:avLst/>
          </a:prstGeom>
          <a:ln w="1905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0561320" y="3794760"/>
            <a:ext cx="1417320" cy="777240"/>
          </a:xfrm>
          <a:prstGeom prst="roundRect">
            <a:avLst/>
          </a:prstGeom>
          <a:solidFill>
            <a:srgbClr val="171B29"/>
          </a:solidFill>
          <a:ln w="1587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a:solidFill>
                  <a:srgbClr val="F5F5F7"/>
                </a:solidFill>
                <a:latin typeface="Arial"/>
              </a:rPr>
              <a:t>LSP_3</a:t>
            </a:r>
          </a:p>
        </p:txBody>
      </p:sp>
      <p:sp>
        <p:nvSpPr>
          <p:cNvPr id="21" name="TextBox 20"/>
          <p:cNvSpPr txBox="1"/>
          <p:nvPr/>
        </p:nvSpPr>
        <p:spPr>
          <a:xfrm>
            <a:off x="8275320" y="4846320"/>
            <a:ext cx="3703320" cy="365760"/>
          </a:xfrm>
          <a:prstGeom prst="rect">
            <a:avLst/>
          </a:prstGeom>
          <a:noFill/>
        </p:spPr>
        <p:txBody>
          <a:bodyPr wrap="square">
            <a:spAutoFit/>
          </a:bodyPr>
          <a:lstStyle/>
          <a:p>
            <a:pPr algn="ctr"/>
            <a:r>
              <a:rPr sz="1100" b="0" i="1">
                <a:solidFill>
                  <a:srgbClr val="8B92A6"/>
                </a:solidFill>
                <a:latin typeface="Arial"/>
              </a:rPr>
              <a:t>LSPS0 — cheapest wins</a:t>
            </a:r>
          </a:p>
        </p:txBody>
      </p:sp>
      <p:sp>
        <p:nvSpPr>
          <p:cNvPr id="22" name="TextBox 21"/>
          <p:cNvSpPr txBox="1"/>
          <p:nvPr/>
        </p:nvSpPr>
        <p:spPr>
          <a:xfrm>
            <a:off x="548640" y="5806440"/>
            <a:ext cx="11064240" cy="457200"/>
          </a:xfrm>
          <a:prstGeom prst="rect">
            <a:avLst/>
          </a:prstGeom>
          <a:noFill/>
        </p:spPr>
        <p:txBody>
          <a:bodyPr wrap="square">
            <a:spAutoFit/>
          </a:bodyPr>
          <a:lstStyle/>
          <a:p>
            <a:pPr algn="ctr"/>
            <a:r>
              <a:rPr sz="1300" b="0" i="0">
                <a:solidFill>
                  <a:srgbClr val="8B92A6"/>
                </a:solidFill>
                <a:latin typeface="Arial"/>
              </a:rPr>
              <a:t>Multi-LSP config via indexed env vars:  LSP_1_NODE_ID · LSP_1_ADDRESS · LSP_2_NODE_ID · …</a:t>
            </a:r>
          </a:p>
        </p:txBody>
      </p:sp>
      <p:sp>
        <p:nvSpPr>
          <p:cNvPr id="23" name="TextBox 22"/>
          <p:cNvSpPr txBox="1"/>
          <p:nvPr/>
        </p:nvSpPr>
        <p:spPr>
          <a:xfrm>
            <a:off x="548640" y="6492240"/>
            <a:ext cx="5486400" cy="274320"/>
          </a:xfrm>
          <a:prstGeom prst="rect">
            <a:avLst/>
          </a:prstGeom>
          <a:noFill/>
        </p:spPr>
        <p:txBody>
          <a:bodyPr wrap="square">
            <a:spAutoFit/>
          </a:bodyPr>
          <a:lstStyle/>
          <a:p>
            <a:pPr algn="l"/>
            <a:r>
              <a:rPr sz="900" b="0" i="0">
                <a:solidFill>
                  <a:srgbClr val="8B92A6"/>
                </a:solidFill>
                <a:latin typeface="Arial"/>
              </a:rPr>
              <a:t>LSPS2 Beyond Mobile</a:t>
            </a:r>
          </a:p>
        </p:txBody>
      </p:sp>
      <p:sp>
        <p:nvSpPr>
          <p:cNvPr id="24" name="TextBox 23"/>
          <p:cNvSpPr txBox="1"/>
          <p:nvPr/>
        </p:nvSpPr>
        <p:spPr>
          <a:xfrm>
            <a:off x="10424160" y="6492240"/>
            <a:ext cx="1280160" cy="274320"/>
          </a:xfrm>
          <a:prstGeom prst="rect">
            <a:avLst/>
          </a:prstGeom>
          <a:noFill/>
        </p:spPr>
        <p:txBody>
          <a:bodyPr wrap="square">
            <a:spAutoFit/>
          </a:bodyPr>
          <a:lstStyle/>
          <a:p>
            <a:pPr algn="r"/>
            <a:r>
              <a:rPr sz="900" b="0" i="0">
                <a:solidFill>
                  <a:srgbClr val="8B92A6"/>
                </a:solidFill>
                <a:latin typeface="Arial"/>
              </a:rPr>
              <a:t>10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548640" y="201168"/>
            <a:ext cx="10515600" cy="365760"/>
          </a:xfrm>
          <a:prstGeom prst="rect">
            <a:avLst/>
          </a:prstGeom>
          <a:noFill/>
        </p:spPr>
        <p:txBody>
          <a:bodyPr wrap="square">
            <a:spAutoFit/>
          </a:bodyPr>
          <a:lstStyle/>
          <a:p>
            <a:pPr algn="l"/>
            <a:r>
              <a:rPr sz="1300" b="1" i="0">
                <a:solidFill>
                  <a:srgbClr val="F7931A"/>
                </a:solidFill>
                <a:latin typeface="Arial"/>
              </a:rPr>
              <a:t>UNDER THE HOOD</a:t>
            </a:r>
          </a:p>
        </p:txBody>
      </p:sp>
      <p:sp>
        <p:nvSpPr>
          <p:cNvPr id="3" name="TextBox 2"/>
          <p:cNvSpPr txBox="1"/>
          <p:nvPr/>
        </p:nvSpPr>
        <p:spPr>
          <a:xfrm>
            <a:off x="548640" y="502920"/>
            <a:ext cx="11064240" cy="777240"/>
          </a:xfrm>
          <a:prstGeom prst="rect">
            <a:avLst/>
          </a:prstGeom>
          <a:noFill/>
        </p:spPr>
        <p:txBody>
          <a:bodyPr wrap="square">
            <a:spAutoFit/>
          </a:bodyPr>
          <a:lstStyle/>
          <a:p>
            <a:pPr algn="l"/>
            <a:r>
              <a:rPr sz="3000" b="1" i="0">
                <a:solidFill>
                  <a:srgbClr val="F5F5F7"/>
                </a:solidFill>
                <a:latin typeface="Arial"/>
              </a:rPr>
              <a:t>Code: Registering LSPs</a:t>
            </a:r>
          </a:p>
        </p:txBody>
      </p:sp>
      <p:sp>
        <p:nvSpPr>
          <p:cNvPr id="4" name="Rectangle 3"/>
          <p:cNvSpPr/>
          <p:nvPr/>
        </p:nvSpPr>
        <p:spPr>
          <a:xfrm>
            <a:off x="566928" y="1234440"/>
            <a:ext cx="1005840" cy="41148"/>
          </a:xfrm>
          <a:prstGeom prst="rect">
            <a:avLst/>
          </a:prstGeom>
          <a:solidFill>
            <a:srgbClr val="F7931A"/>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a:solidFill>
                  <a:srgbClr val="F5F5F7"/>
                </a:solidFill>
                <a:latin typeface="Arial"/>
              </a:rPr>
              <a:t/>
            </a:r>
          </a:p>
        </p:txBody>
      </p:sp>
      <p:sp>
        <p:nvSpPr>
          <p:cNvPr id="5" name="Rounded Rectangle 4"/>
          <p:cNvSpPr/>
          <p:nvPr/>
        </p:nvSpPr>
        <p:spPr>
          <a:xfrm>
            <a:off x="548640" y="1920240"/>
            <a:ext cx="7223760" cy="2377440"/>
          </a:xfrm>
          <a:prstGeom prst="roundRect">
            <a:avLst/>
          </a:prstGeom>
          <a:solidFill>
            <a:srgbClr val="0D111C"/>
          </a:solidFill>
          <a:ln w="12700">
            <a:solidFill>
              <a:srgbClr val="2A3045"/>
            </a:solidFill>
          </a:ln>
          <a:effectLst/>
        </p:spPr>
        <p:style>
          <a:lnRef idx="1">
            <a:schemeClr val="accent1"/>
          </a:lnRef>
          <a:fillRef idx="3">
            <a:schemeClr val="accent1"/>
          </a:fillRef>
          <a:effectRef idx="2">
            <a:schemeClr val="accent1"/>
          </a:effectRef>
          <a:fontRef idx="minor">
            <a:schemeClr val="lt1"/>
          </a:fontRef>
        </p:style>
        <p:txBody>
          <a:bodyPr rtlCol="0" anchor="ctr" wrap="none" lIns="201168" tIns="146304" rIns="137160" bIns="109728"/>
          <a:lstStyle/>
          <a:p>
            <a:pPr algn="ctr"/>
            <a:r>
              <a:rPr sz="1600" b="0">
                <a:solidFill>
                  <a:srgbClr val="D8DCE8"/>
                </a:solidFill>
                <a:latin typeface="Courier New"/>
              </a:rPr>
              <a:t>for (node_id, address, token) in parsed_lsps {</a:t>
            </a:r>
          </a:p>
          <a:p>
            <a:r>
              <a:rPr sz="1600" b="1">
                <a:solidFill>
                  <a:srgbClr val="F7931A"/>
                </a:solidFill>
                <a:latin typeface="Courier New"/>
              </a:rPr>
              <a:t>    builder.add_liquidity_source(node_id, address, token, true);</a:t>
            </a:r>
          </a:p>
          <a:p>
            <a:r>
              <a:rPr sz="1600" b="0">
                <a:solidFill>
                  <a:srgbClr val="D8DCE8"/>
                </a:solidFill>
                <a:latin typeface="Courier New"/>
              </a:rPr>
              <a:t>}</a:t>
            </a:r>
          </a:p>
          <a:p>
            <a:r>
              <a:rPr sz="1600" b="0">
                <a:solidFill>
                  <a:srgbClr val="D8DCE8"/>
                </a:solidFill>
                <a:latin typeface="Courier New"/>
              </a:rPr>
              <a:t>let node = builder.build(entropy)?;</a:t>
            </a:r>
          </a:p>
        </p:txBody>
      </p:sp>
      <p:sp>
        <p:nvSpPr>
          <p:cNvPr id="6" name="Rounded Rectangle 5"/>
          <p:cNvSpPr/>
          <p:nvPr/>
        </p:nvSpPr>
        <p:spPr>
          <a:xfrm>
            <a:off x="8092440" y="1920240"/>
            <a:ext cx="3520440" cy="2377440"/>
          </a:xfrm>
          <a:prstGeom prst="roundRect">
            <a:avLst/>
          </a:prstGeom>
          <a:solidFill>
            <a:srgbClr val="1E2438"/>
          </a:solidFill>
          <a:ln w="19050">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64592" tIns="146304" bIns="54864"/>
          <a:lstStyle/>
          <a:p>
            <a:pPr algn="l"/>
            <a:r>
              <a:rPr sz="1400" b="0">
                <a:solidFill>
                  <a:srgbClr val="F5F5F7"/>
                </a:solidFill>
                <a:latin typeface="Arial"/>
              </a:rPr>
              <a:t/>
            </a:r>
            <a:r>
              <a:rPr sz="1450" b="1">
                <a:solidFill>
                  <a:srgbClr val="F7931A"/>
                </a:solidFill>
                <a:latin typeface="Arial"/>
              </a:rPr>
              <a:t>One call per LSP</a:t>
            </a:r>
          </a:p>
          <a:p>
            <a:pPr algn="l"/>
            <a:r>
              <a:rPr sz="1350">
                <a:solidFill>
                  <a:srgbClr val="F5F5F7"/>
                </a:solidFill>
                <a:latin typeface="Arial"/>
              </a:rPr>
              <a:t>Multi-LSP fee comparison is automatic — no application code needed to compare offers.</a:t>
            </a:r>
          </a:p>
        </p:txBody>
      </p:sp>
      <p:sp>
        <p:nvSpPr>
          <p:cNvPr id="7" name="TextBox 6"/>
          <p:cNvSpPr txBox="1"/>
          <p:nvPr/>
        </p:nvSpPr>
        <p:spPr>
          <a:xfrm>
            <a:off x="548640" y="6492240"/>
            <a:ext cx="5486400" cy="274320"/>
          </a:xfrm>
          <a:prstGeom prst="rect">
            <a:avLst/>
          </a:prstGeom>
          <a:noFill/>
        </p:spPr>
        <p:txBody>
          <a:bodyPr wrap="square">
            <a:spAutoFit/>
          </a:bodyPr>
          <a:lstStyle/>
          <a:p>
            <a:pPr algn="l"/>
            <a:r>
              <a:rPr sz="900" b="0" i="0">
                <a:solidFill>
                  <a:srgbClr val="8B92A6"/>
                </a:solidFill>
                <a:latin typeface="Arial"/>
              </a:rPr>
              <a:t>LSPS2 Beyond Mobile</a:t>
            </a:r>
          </a:p>
        </p:txBody>
      </p:sp>
      <p:sp>
        <p:nvSpPr>
          <p:cNvPr id="8" name="TextBox 7"/>
          <p:cNvSpPr txBox="1"/>
          <p:nvPr/>
        </p:nvSpPr>
        <p:spPr>
          <a:xfrm>
            <a:off x="10424160" y="6492240"/>
            <a:ext cx="1280160" cy="274320"/>
          </a:xfrm>
          <a:prstGeom prst="rect">
            <a:avLst/>
          </a:prstGeom>
          <a:noFill/>
        </p:spPr>
        <p:txBody>
          <a:bodyPr wrap="square">
            <a:spAutoFit/>
          </a:bodyPr>
          <a:lstStyle/>
          <a:p>
            <a:pPr algn="r"/>
            <a:r>
              <a:rPr sz="900" b="0" i="0">
                <a:solidFill>
                  <a:srgbClr val="8B92A6"/>
                </a:solidFill>
                <a:latin typeface="Arial"/>
              </a:rPr>
              <a:t>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548640" y="201168"/>
            <a:ext cx="10515600" cy="365760"/>
          </a:xfrm>
          <a:prstGeom prst="rect">
            <a:avLst/>
          </a:prstGeom>
          <a:noFill/>
        </p:spPr>
        <p:txBody>
          <a:bodyPr wrap="square">
            <a:spAutoFit/>
          </a:bodyPr>
          <a:lstStyle/>
          <a:p>
            <a:pPr algn="l"/>
            <a:r>
              <a:rPr sz="1300" b="1" i="0">
                <a:solidFill>
                  <a:srgbClr val="F7931A"/>
                </a:solidFill>
                <a:latin typeface="Arial"/>
              </a:rPr>
              <a:t>UNDER THE HOOD</a:t>
            </a:r>
          </a:p>
        </p:txBody>
      </p:sp>
      <p:sp>
        <p:nvSpPr>
          <p:cNvPr id="3" name="TextBox 2"/>
          <p:cNvSpPr txBox="1"/>
          <p:nvPr/>
        </p:nvSpPr>
        <p:spPr>
          <a:xfrm>
            <a:off x="548640" y="502920"/>
            <a:ext cx="11064240" cy="777240"/>
          </a:xfrm>
          <a:prstGeom prst="rect">
            <a:avLst/>
          </a:prstGeom>
          <a:noFill/>
        </p:spPr>
        <p:txBody>
          <a:bodyPr wrap="square">
            <a:spAutoFit/>
          </a:bodyPr>
          <a:lstStyle/>
          <a:p>
            <a:pPr algn="l"/>
            <a:r>
              <a:rPr sz="3000" b="1" i="0">
                <a:solidFill>
                  <a:srgbClr val="F5F5F7"/>
                </a:solidFill>
                <a:latin typeface="Arial"/>
              </a:rPr>
              <a:t>Code: The Event Loop</a:t>
            </a:r>
          </a:p>
        </p:txBody>
      </p:sp>
      <p:sp>
        <p:nvSpPr>
          <p:cNvPr id="4" name="Rectangle 3"/>
          <p:cNvSpPr/>
          <p:nvPr/>
        </p:nvSpPr>
        <p:spPr>
          <a:xfrm>
            <a:off x="566928" y="1234440"/>
            <a:ext cx="1005840" cy="41148"/>
          </a:xfrm>
          <a:prstGeom prst="rect">
            <a:avLst/>
          </a:prstGeom>
          <a:solidFill>
            <a:srgbClr val="F7931A"/>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a:solidFill>
                  <a:srgbClr val="F5F5F7"/>
                </a:solidFill>
                <a:latin typeface="Arial"/>
              </a:rPr>
              <a:t/>
            </a:r>
          </a:p>
        </p:txBody>
      </p:sp>
      <p:sp>
        <p:nvSpPr>
          <p:cNvPr id="5" name="Rounded Rectangle 4"/>
          <p:cNvSpPr/>
          <p:nvPr/>
        </p:nvSpPr>
        <p:spPr>
          <a:xfrm>
            <a:off x="457200" y="1508760"/>
            <a:ext cx="7772400" cy="4434840"/>
          </a:xfrm>
          <a:prstGeom prst="roundRect">
            <a:avLst/>
          </a:prstGeom>
          <a:solidFill>
            <a:srgbClr val="0D111C"/>
          </a:solidFill>
          <a:ln w="12700">
            <a:solidFill>
              <a:srgbClr val="2A3045"/>
            </a:solidFill>
          </a:ln>
          <a:effectLst/>
        </p:spPr>
        <p:style>
          <a:lnRef idx="1">
            <a:schemeClr val="accent1"/>
          </a:lnRef>
          <a:fillRef idx="3">
            <a:schemeClr val="accent1"/>
          </a:fillRef>
          <a:effectRef idx="2">
            <a:schemeClr val="accent1"/>
          </a:effectRef>
          <a:fontRef idx="minor">
            <a:schemeClr val="lt1"/>
          </a:fontRef>
        </p:style>
        <p:txBody>
          <a:bodyPr rtlCol="0" anchor="ctr" wrap="none" lIns="201168" tIns="146304" rIns="137160" bIns="109728"/>
          <a:lstStyle/>
          <a:p>
            <a:pPr algn="ctr"/>
            <a:r>
              <a:rPr sz="1350" b="0">
                <a:solidFill>
                  <a:srgbClr val="D8DCE8"/>
                </a:solidFill>
                <a:latin typeface="Courier New"/>
              </a:rPr>
              <a:t>match node.next_event_async().await {</a:t>
            </a:r>
          </a:p>
          <a:p>
            <a:r>
              <a:rPr sz="1350" b="0">
                <a:solidFill>
                  <a:srgbClr val="D8DCE8"/>
                </a:solidFill>
                <a:latin typeface="Courier New"/>
              </a:rPr>
              <a:t>    Event::ChannelPending { channel_id, .. } =&gt; {</a:t>
            </a:r>
          </a:p>
          <a:p>
            <a:r>
              <a:rPr sz="1350" b="1">
                <a:solidFill>
                  <a:srgbClr val="F7931A"/>
                </a:solidFill>
                <a:latin typeface="Courier New"/>
              </a:rPr>
              <a:t>        jit_channels_pending.lock().unwrap().insert(channel_id);</a:t>
            </a:r>
          </a:p>
          <a:p>
            <a:r>
              <a:rPr sz="1350" b="0">
                <a:solidFill>
                  <a:srgbClr val="D8DCE8"/>
                </a:solidFill>
                <a:latin typeface="Courier New"/>
              </a:rPr>
              <a:t>        node.event_handled()?;</a:t>
            </a:r>
          </a:p>
          <a:p>
            <a:r>
              <a:rPr sz="1350" b="0">
                <a:solidFill>
                  <a:srgbClr val="D8DCE8"/>
                </a:solidFill>
                <a:latin typeface="Courier New"/>
              </a:rPr>
              <a:t>    }</a:t>
            </a:r>
          </a:p>
          <a:p>
            <a:r>
              <a:rPr sz="1350" b="0">
                <a:solidFill>
                  <a:srgbClr val="D8DCE8"/>
                </a:solidFill>
                <a:latin typeface="Courier New"/>
              </a:rPr>
              <a:t>    Event::ChannelReady { channel_id, .. } =&gt; {</a:t>
            </a:r>
          </a:p>
          <a:p>
            <a:r>
              <a:rPr sz="1350" b="1">
                <a:solidFill>
                  <a:srgbClr val="F7931A"/>
                </a:solidFill>
                <a:latin typeface="Courier New"/>
              </a:rPr>
              <a:t>        jit_channels_pending.lock().unwrap().remove(&amp;channel_id);</a:t>
            </a:r>
          </a:p>
          <a:p>
            <a:r>
              <a:rPr sz="1350" b="0">
                <a:solidFill>
                  <a:srgbClr val="D8DCE8"/>
                </a:solidFill>
                <a:latin typeface="Courier New"/>
              </a:rPr>
              <a:t>        node.event_handled()?;</a:t>
            </a:r>
          </a:p>
          <a:p>
            <a:r>
              <a:rPr sz="1350" b="0">
                <a:solidFill>
                  <a:srgbClr val="D8DCE8"/>
                </a:solidFill>
                <a:latin typeface="Courier New"/>
              </a:rPr>
              <a:t>    }</a:t>
            </a:r>
          </a:p>
          <a:p>
            <a:r>
              <a:rPr sz="1350" b="0">
                <a:solidFill>
                  <a:srgbClr val="D8DCE8"/>
                </a:solidFill>
                <a:latin typeface="Courier New"/>
              </a:rPr>
              <a:t>    Event::PaymentReceived { payment_hash, amount_msat, .. } =&gt; {</a:t>
            </a:r>
          </a:p>
          <a:p>
            <a:r>
              <a:rPr sz="1350" b="0">
                <a:solidFill>
                  <a:srgbClr val="D8DCE8"/>
                </a:solidFill>
                <a:latin typeface="Courier New"/>
              </a:rPr>
              <a:t>        db.mark_paid(&amp;hash_hex, amount_msat, Utc::now().timestamp())?;</a:t>
            </a:r>
          </a:p>
          <a:p>
            <a:r>
              <a:rPr sz="1350" b="0">
                <a:solidFill>
                  <a:srgbClr val="D8DCE8"/>
                </a:solidFill>
                <a:latin typeface="Courier New"/>
              </a:rPr>
              <a:t>        node.event_handled()?;</a:t>
            </a:r>
          </a:p>
          <a:p>
            <a:r>
              <a:rPr sz="1350" b="0">
                <a:solidFill>
                  <a:srgbClr val="D8DCE8"/>
                </a:solidFill>
                <a:latin typeface="Courier New"/>
              </a:rPr>
              <a:t>    }</a:t>
            </a:r>
          </a:p>
          <a:p>
            <a:r>
              <a:rPr sz="1350" b="0">
                <a:solidFill>
                  <a:srgbClr val="D8DCE8"/>
                </a:solidFill>
                <a:latin typeface="Courier New"/>
              </a:rPr>
              <a:t>    // ...</a:t>
            </a:r>
          </a:p>
          <a:p>
            <a:r>
              <a:rPr sz="1350" b="0">
                <a:solidFill>
                  <a:srgbClr val="D8DCE8"/>
                </a:solidFill>
                <a:latin typeface="Courier New"/>
              </a:rPr>
              <a:t>}</a:t>
            </a:r>
          </a:p>
        </p:txBody>
      </p:sp>
      <p:sp>
        <p:nvSpPr>
          <p:cNvPr id="6" name="Rounded Rectangle 5"/>
          <p:cNvSpPr/>
          <p:nvPr/>
        </p:nvSpPr>
        <p:spPr>
          <a:xfrm>
            <a:off x="8366760" y="1737360"/>
            <a:ext cx="3246120" cy="3931920"/>
          </a:xfrm>
          <a:prstGeom prst="roundRect">
            <a:avLst/>
          </a:prstGeom>
          <a:solidFill>
            <a:srgbClr val="1E2438"/>
          </a:solidFill>
          <a:ln w="19050">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64592" tIns="146304" bIns="54864"/>
          <a:lstStyle/>
          <a:p>
            <a:pPr algn="l"/>
            <a:r>
              <a:rPr sz="1400" b="0">
                <a:solidFill>
                  <a:srgbClr val="F5F5F7"/>
                </a:solidFill>
                <a:latin typeface="Arial"/>
              </a:rPr>
              <a:t/>
            </a:r>
            <a:r>
              <a:rPr sz="1400" b="1">
                <a:solidFill>
                  <a:srgbClr val="F7931A"/>
                </a:solidFill>
                <a:latin typeface="Arial"/>
              </a:rPr>
              <a:t>HashSet&lt;ChannelId&gt;,
not a counter</a:t>
            </a:r>
          </a:p>
          <a:p>
            <a:pPr algn="l"/>
            <a:r>
              <a:rPr sz="1300">
                <a:solidFill>
                  <a:srgbClr val="F5F5F7"/>
                </a:solidFill>
                <a:latin typeface="Arial"/>
              </a:rPr>
              <a:t>A counter would decrement on ANY payment received — even one over an existing channel — incorrectly clearing the JIT-opening state.</a:t>
            </a:r>
          </a:p>
        </p:txBody>
      </p:sp>
      <p:sp>
        <p:nvSpPr>
          <p:cNvPr id="7" name="TextBox 6"/>
          <p:cNvSpPr txBox="1"/>
          <p:nvPr/>
        </p:nvSpPr>
        <p:spPr>
          <a:xfrm>
            <a:off x="548640" y="6492240"/>
            <a:ext cx="5486400" cy="274320"/>
          </a:xfrm>
          <a:prstGeom prst="rect">
            <a:avLst/>
          </a:prstGeom>
          <a:noFill/>
        </p:spPr>
        <p:txBody>
          <a:bodyPr wrap="square">
            <a:spAutoFit/>
          </a:bodyPr>
          <a:lstStyle/>
          <a:p>
            <a:pPr algn="l"/>
            <a:r>
              <a:rPr sz="900" b="0" i="0">
                <a:solidFill>
                  <a:srgbClr val="8B92A6"/>
                </a:solidFill>
                <a:latin typeface="Arial"/>
              </a:rPr>
              <a:t>LSPS2 Beyond Mobile</a:t>
            </a:r>
          </a:p>
        </p:txBody>
      </p:sp>
      <p:sp>
        <p:nvSpPr>
          <p:cNvPr id="8" name="TextBox 7"/>
          <p:cNvSpPr txBox="1"/>
          <p:nvPr/>
        </p:nvSpPr>
        <p:spPr>
          <a:xfrm>
            <a:off x="10424160" y="6492240"/>
            <a:ext cx="1280160" cy="274320"/>
          </a:xfrm>
          <a:prstGeom prst="rect">
            <a:avLst/>
          </a:prstGeom>
          <a:noFill/>
        </p:spPr>
        <p:txBody>
          <a:bodyPr wrap="square">
            <a:spAutoFit/>
          </a:bodyPr>
          <a:lstStyle/>
          <a:p>
            <a:pPr algn="r"/>
            <a:r>
              <a:rPr sz="900" b="0" i="0">
                <a:solidFill>
                  <a:srgbClr val="8B92A6"/>
                </a:solidFill>
                <a:latin typeface="Arial"/>
              </a:rPr>
              <a:t>12 /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548640" y="201168"/>
            <a:ext cx="10515600" cy="365760"/>
          </a:xfrm>
          <a:prstGeom prst="rect">
            <a:avLst/>
          </a:prstGeom>
          <a:noFill/>
        </p:spPr>
        <p:txBody>
          <a:bodyPr wrap="square">
            <a:spAutoFit/>
          </a:bodyPr>
          <a:lstStyle/>
          <a:p>
            <a:pPr algn="l"/>
            <a:r>
              <a:rPr sz="1300" b="1" i="0">
                <a:solidFill>
                  <a:srgbClr val="F7931A"/>
                </a:solidFill>
                <a:latin typeface="Arial"/>
              </a:rPr>
              <a:t>UNDER THE HOOD</a:t>
            </a:r>
          </a:p>
        </p:txBody>
      </p:sp>
      <p:sp>
        <p:nvSpPr>
          <p:cNvPr id="3" name="TextBox 2"/>
          <p:cNvSpPr txBox="1"/>
          <p:nvPr/>
        </p:nvSpPr>
        <p:spPr>
          <a:xfrm>
            <a:off x="548640" y="502920"/>
            <a:ext cx="11064240" cy="777240"/>
          </a:xfrm>
          <a:prstGeom prst="rect">
            <a:avLst/>
          </a:prstGeom>
          <a:noFill/>
        </p:spPr>
        <p:txBody>
          <a:bodyPr wrap="square">
            <a:spAutoFit/>
          </a:bodyPr>
          <a:lstStyle/>
          <a:p>
            <a:pPr algn="l"/>
            <a:r>
              <a:rPr sz="3000" b="1" i="0">
                <a:solidFill>
                  <a:srgbClr val="F5F5F7"/>
                </a:solidFill>
                <a:latin typeface="Arial"/>
              </a:rPr>
              <a:t>Code: Surfacing State to the Browser</a:t>
            </a:r>
          </a:p>
        </p:txBody>
      </p:sp>
      <p:sp>
        <p:nvSpPr>
          <p:cNvPr id="4" name="Rectangle 3"/>
          <p:cNvSpPr/>
          <p:nvPr/>
        </p:nvSpPr>
        <p:spPr>
          <a:xfrm>
            <a:off x="566928" y="1234440"/>
            <a:ext cx="1005840" cy="41148"/>
          </a:xfrm>
          <a:prstGeom prst="rect">
            <a:avLst/>
          </a:prstGeom>
          <a:solidFill>
            <a:srgbClr val="F7931A"/>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a:solidFill>
                  <a:srgbClr val="F5F5F7"/>
                </a:solidFill>
                <a:latin typeface="Arial"/>
              </a:rPr>
              <a:t/>
            </a:r>
          </a:p>
        </p:txBody>
      </p:sp>
      <p:sp>
        <p:nvSpPr>
          <p:cNvPr id="5" name="Rounded Rectangle 4"/>
          <p:cNvSpPr/>
          <p:nvPr/>
        </p:nvSpPr>
        <p:spPr>
          <a:xfrm>
            <a:off x="457200" y="1463040"/>
            <a:ext cx="5989320" cy="2606040"/>
          </a:xfrm>
          <a:prstGeom prst="roundRect">
            <a:avLst/>
          </a:prstGeom>
          <a:solidFill>
            <a:srgbClr val="0D111C"/>
          </a:solidFill>
          <a:ln w="12700">
            <a:solidFill>
              <a:srgbClr val="2A3045"/>
            </a:solidFill>
          </a:ln>
          <a:effectLst/>
        </p:spPr>
        <p:style>
          <a:lnRef idx="1">
            <a:schemeClr val="accent1"/>
          </a:lnRef>
          <a:fillRef idx="3">
            <a:schemeClr val="accent1"/>
          </a:fillRef>
          <a:effectRef idx="2">
            <a:schemeClr val="accent1"/>
          </a:effectRef>
          <a:fontRef idx="minor">
            <a:schemeClr val="lt1"/>
          </a:fontRef>
        </p:style>
        <p:txBody>
          <a:bodyPr rtlCol="0" anchor="ctr" wrap="none" lIns="201168" tIns="146304" rIns="137160" bIns="109728"/>
          <a:lstStyle/>
          <a:p>
            <a:pPr algn="ctr"/>
            <a:r>
              <a:rPr sz="1250" b="0">
                <a:solidFill>
                  <a:srgbClr val="D8DCE8"/>
                </a:solidFill>
                <a:latin typeface="Courier New"/>
              </a:rPr>
              <a:t>// GET /api/invoice/:hash</a:t>
            </a:r>
          </a:p>
          <a:p>
            <a:r>
              <a:rPr sz="1250" b="0">
                <a:solidFill>
                  <a:srgbClr val="D8DCE8"/>
                </a:solidFill>
                <a:latin typeface="Courier New"/>
              </a:rPr>
              <a:t>let status = if order.status == "pending"</a:t>
            </a:r>
          </a:p>
          <a:p>
            <a:r>
              <a:rPr sz="1250" b="0">
                <a:solidFill>
                  <a:srgbClr val="D8DCE8"/>
                </a:solidFill>
                <a:latin typeface="Courier New"/>
              </a:rPr>
              <a:t>    &amp;&amp; !state.jit_channels_pending.lock().unwrap().is_empty()</a:t>
            </a:r>
          </a:p>
          <a:p>
            <a:r>
              <a:rPr sz="1250" b="0">
                <a:solidFill>
                  <a:srgbClr val="D8DCE8"/>
                </a:solidFill>
                <a:latin typeface="Courier New"/>
              </a:rPr>
              <a:t>{</a:t>
            </a:r>
          </a:p>
          <a:p>
            <a:r>
              <a:rPr sz="1250" b="1">
                <a:solidFill>
                  <a:srgbClr val="F7931A"/>
                </a:solidFill>
                <a:latin typeface="Courier New"/>
              </a:rPr>
              <a:t>    "opening_channel"</a:t>
            </a:r>
          </a:p>
          <a:p>
            <a:r>
              <a:rPr sz="1250" b="0">
                <a:solidFill>
                  <a:srgbClr val="D8DCE8"/>
                </a:solidFill>
                <a:latin typeface="Courier New"/>
              </a:rPr>
              <a:t>} else {</a:t>
            </a:r>
          </a:p>
          <a:p>
            <a:r>
              <a:rPr sz="1250" b="0">
                <a:solidFill>
                  <a:srgbClr val="D8DCE8"/>
                </a:solidFill>
                <a:latin typeface="Courier New"/>
              </a:rPr>
              <a:t>    &amp;order.status</a:t>
            </a:r>
          </a:p>
          <a:p>
            <a:r>
              <a:rPr sz="1250" b="0">
                <a:solidFill>
                  <a:srgbClr val="D8DCE8"/>
                </a:solidFill>
                <a:latin typeface="Courier New"/>
              </a:rPr>
              <a:t>};</a:t>
            </a:r>
          </a:p>
        </p:txBody>
      </p:sp>
      <p:sp>
        <p:nvSpPr>
          <p:cNvPr id="6" name="TextBox 5"/>
          <p:cNvSpPr txBox="1"/>
          <p:nvPr/>
        </p:nvSpPr>
        <p:spPr>
          <a:xfrm>
            <a:off x="457200" y="1115568"/>
            <a:ext cx="5989320" cy="292608"/>
          </a:xfrm>
          <a:prstGeom prst="rect">
            <a:avLst/>
          </a:prstGeom>
          <a:noFill/>
        </p:spPr>
        <p:txBody>
          <a:bodyPr wrap="square">
            <a:spAutoFit/>
          </a:bodyPr>
          <a:lstStyle/>
          <a:p>
            <a:pPr algn="l"/>
            <a:r>
              <a:rPr sz="1200" b="1" i="0">
                <a:solidFill>
                  <a:srgbClr val="8B92A6"/>
                </a:solidFill>
                <a:latin typeface="Arial"/>
              </a:rPr>
              <a:t>node-service (Rust)</a:t>
            </a:r>
          </a:p>
        </p:txBody>
      </p:sp>
      <p:sp>
        <p:nvSpPr>
          <p:cNvPr id="7" name="Rounded Rectangle 6"/>
          <p:cNvSpPr/>
          <p:nvPr/>
        </p:nvSpPr>
        <p:spPr>
          <a:xfrm>
            <a:off x="457200" y="4343400"/>
            <a:ext cx="5989320" cy="1600200"/>
          </a:xfrm>
          <a:prstGeom prst="roundRect">
            <a:avLst/>
          </a:prstGeom>
          <a:solidFill>
            <a:srgbClr val="0D111C"/>
          </a:solidFill>
          <a:ln w="12700">
            <a:solidFill>
              <a:srgbClr val="2A3045"/>
            </a:solidFill>
          </a:ln>
          <a:effectLst/>
        </p:spPr>
        <p:style>
          <a:lnRef idx="1">
            <a:schemeClr val="accent1"/>
          </a:lnRef>
          <a:fillRef idx="3">
            <a:schemeClr val="accent1"/>
          </a:fillRef>
          <a:effectRef idx="2">
            <a:schemeClr val="accent1"/>
          </a:effectRef>
          <a:fontRef idx="minor">
            <a:schemeClr val="lt1"/>
          </a:fontRef>
        </p:style>
        <p:txBody>
          <a:bodyPr rtlCol="0" anchor="ctr" wrap="none" lIns="201168" tIns="146304" rIns="137160" bIns="109728"/>
          <a:lstStyle/>
          <a:p>
            <a:pPr algn="ctr"/>
            <a:r>
              <a:rPr sz="1250" b="0">
                <a:solidFill>
                  <a:srgbClr val="D8DCE8"/>
                </a:solidFill>
                <a:latin typeface="Courier New"/>
              </a:rPr>
              <a:t>useEffect(() =&gt; {</a:t>
            </a:r>
          </a:p>
          <a:p>
            <a:r>
              <a:rPr sz="1250" b="1">
                <a:solidFill>
                  <a:srgbClr val="F7931A"/>
                </a:solidFill>
                <a:latin typeface="Courier New"/>
              </a:rPr>
              <a:t>  if (paymentStatus === "opening_channel") setChannelOpening(true);</a:t>
            </a:r>
          </a:p>
          <a:p>
            <a:r>
              <a:rPr sz="1250" b="1">
                <a:solidFill>
                  <a:srgbClr val="F7931A"/>
                </a:solidFill>
                <a:latin typeface="Courier New"/>
              </a:rPr>
              <a:t>  if (paymentStatus === "succeeded") setChannelOpening(false);</a:t>
            </a:r>
          </a:p>
          <a:p>
            <a:r>
              <a:rPr sz="1250" b="0">
                <a:solidFill>
                  <a:srgbClr val="D8DCE8"/>
                </a:solidFill>
                <a:latin typeface="Courier New"/>
              </a:rPr>
              <a:t>}, [paymentStatus]);</a:t>
            </a:r>
          </a:p>
        </p:txBody>
      </p:sp>
      <p:sp>
        <p:nvSpPr>
          <p:cNvPr id="8" name="TextBox 7"/>
          <p:cNvSpPr txBox="1"/>
          <p:nvPr/>
        </p:nvSpPr>
        <p:spPr>
          <a:xfrm>
            <a:off x="457200" y="3995928"/>
            <a:ext cx="5989320" cy="292608"/>
          </a:xfrm>
          <a:prstGeom prst="rect">
            <a:avLst/>
          </a:prstGeom>
          <a:noFill/>
        </p:spPr>
        <p:txBody>
          <a:bodyPr wrap="square">
            <a:spAutoFit/>
          </a:bodyPr>
          <a:lstStyle/>
          <a:p>
            <a:pPr algn="l"/>
            <a:r>
              <a:rPr sz="1200" b="1" i="0">
                <a:solidFill>
                  <a:srgbClr val="8B92A6"/>
                </a:solidFill>
                <a:latin typeface="Arial"/>
              </a:rPr>
              <a:t>Frontend (React)</a:t>
            </a:r>
          </a:p>
        </p:txBody>
      </p:sp>
      <p:sp>
        <p:nvSpPr>
          <p:cNvPr id="9" name="Rounded Rectangle 8"/>
          <p:cNvSpPr/>
          <p:nvPr/>
        </p:nvSpPr>
        <p:spPr>
          <a:xfrm>
            <a:off x="6629400" y="1463040"/>
            <a:ext cx="4983480" cy="4480560"/>
          </a:xfrm>
          <a:prstGeom prst="roundRect">
            <a:avLst/>
          </a:prstGeom>
          <a:solidFill>
            <a:srgbClr val="1E2438"/>
          </a:solidFill>
          <a:ln w="19050">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64592" tIns="146304" bIns="54864"/>
          <a:lstStyle/>
          <a:p>
            <a:pPr algn="l"/>
            <a:r>
              <a:rPr sz="1400" b="0">
                <a:solidFill>
                  <a:srgbClr val="F5F5F7"/>
                </a:solidFill>
                <a:latin typeface="Arial"/>
              </a:rPr>
              <a:t/>
            </a:r>
            <a:r>
              <a:rPr sz="1550" b="1">
                <a:solidFill>
                  <a:srgbClr val="F7931A"/>
                </a:solidFill>
                <a:latin typeface="Arial"/>
              </a:rPr>
              <a:t>Sticky flag</a:t>
            </a:r>
          </a:p>
          <a:p>
            <a:pPr algn="l"/>
            <a:r>
              <a:rPr sz="1450">
                <a:solidFill>
                  <a:srgbClr val="F5F5F7"/>
                </a:solidFill>
                <a:latin typeface="Arial"/>
              </a:rPr>
              <a:t>Once the banner shows, it holds until "succeeded".</a:t>
            </a:r>
          </a:p>
          <a:p>
            <a:pPr algn="l"/>
            <a:r>
              <a:rPr sz="1450">
                <a:solidFill>
                  <a:srgbClr val="F5F5F7"/>
                </a:solidFill>
                <a:latin typeface="Arial"/>
              </a:rPr>
              <a:t/>
            </a:r>
          </a:p>
          <a:p>
            <a:pPr algn="l"/>
            <a:r>
              <a:rPr sz="1450">
                <a:solidFill>
                  <a:srgbClr val="F5F5F7"/>
                </a:solidFill>
                <a:latin typeface="Arial"/>
              </a:rPr>
              <a:t>This prevents a visible gap between ChannelReady firing and the payment status actually flipping to confirmed — without it the UI would flicker back to neutral.</a:t>
            </a:r>
          </a:p>
        </p:txBody>
      </p:sp>
      <p:sp>
        <p:nvSpPr>
          <p:cNvPr id="10" name="TextBox 9"/>
          <p:cNvSpPr txBox="1"/>
          <p:nvPr/>
        </p:nvSpPr>
        <p:spPr>
          <a:xfrm>
            <a:off x="548640" y="6492240"/>
            <a:ext cx="5486400" cy="274320"/>
          </a:xfrm>
          <a:prstGeom prst="rect">
            <a:avLst/>
          </a:prstGeom>
          <a:noFill/>
        </p:spPr>
        <p:txBody>
          <a:bodyPr wrap="square">
            <a:spAutoFit/>
          </a:bodyPr>
          <a:lstStyle/>
          <a:p>
            <a:pPr algn="l"/>
            <a:r>
              <a:rPr sz="900" b="0" i="0">
                <a:solidFill>
                  <a:srgbClr val="8B92A6"/>
                </a:solidFill>
                <a:latin typeface="Arial"/>
              </a:rPr>
              <a:t>LSPS2 Beyond Mobile</a:t>
            </a:r>
          </a:p>
        </p:txBody>
      </p:sp>
      <p:sp>
        <p:nvSpPr>
          <p:cNvPr id="11" name="TextBox 10"/>
          <p:cNvSpPr txBox="1"/>
          <p:nvPr/>
        </p:nvSpPr>
        <p:spPr>
          <a:xfrm>
            <a:off x="10424160" y="6492240"/>
            <a:ext cx="1280160" cy="274320"/>
          </a:xfrm>
          <a:prstGeom prst="rect">
            <a:avLst/>
          </a:prstGeom>
          <a:noFill/>
        </p:spPr>
        <p:txBody>
          <a:bodyPr wrap="square">
            <a:spAutoFit/>
          </a:bodyPr>
          <a:lstStyle/>
          <a:p>
            <a:pPr algn="r"/>
            <a:r>
              <a:rPr sz="900" b="0" i="0">
                <a:solidFill>
                  <a:srgbClr val="8B92A6"/>
                </a:solidFill>
                <a:latin typeface="Arial"/>
              </a:rPr>
              <a:t>13 /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548640" y="201168"/>
            <a:ext cx="10515600" cy="365760"/>
          </a:xfrm>
          <a:prstGeom prst="rect">
            <a:avLst/>
          </a:prstGeom>
          <a:noFill/>
        </p:spPr>
        <p:txBody>
          <a:bodyPr wrap="square">
            <a:spAutoFit/>
          </a:bodyPr>
          <a:lstStyle/>
          <a:p>
            <a:pPr algn="l"/>
            <a:r>
              <a:rPr sz="1300" b="1" i="0">
                <a:solidFill>
                  <a:srgbClr val="F7931A"/>
                </a:solidFill>
                <a:latin typeface="Arial"/>
              </a:rPr>
              <a:t>THE PAYOFF</a:t>
            </a:r>
          </a:p>
        </p:txBody>
      </p:sp>
      <p:sp>
        <p:nvSpPr>
          <p:cNvPr id="3" name="TextBox 2"/>
          <p:cNvSpPr txBox="1"/>
          <p:nvPr/>
        </p:nvSpPr>
        <p:spPr>
          <a:xfrm>
            <a:off x="548640" y="502920"/>
            <a:ext cx="11064240" cy="777240"/>
          </a:xfrm>
          <a:prstGeom prst="rect">
            <a:avLst/>
          </a:prstGeom>
          <a:noFill/>
        </p:spPr>
        <p:txBody>
          <a:bodyPr wrap="square">
            <a:spAutoFit/>
          </a:bodyPr>
          <a:lstStyle/>
          <a:p>
            <a:pPr algn="l"/>
            <a:r>
              <a:rPr sz="3000" b="1" i="0">
                <a:solidFill>
                  <a:srgbClr val="F5F5F7"/>
                </a:solidFill>
                <a:latin typeface="Arial"/>
              </a:rPr>
              <a:t>Code: What the Developer Actually Writes</a:t>
            </a:r>
          </a:p>
        </p:txBody>
      </p:sp>
      <p:sp>
        <p:nvSpPr>
          <p:cNvPr id="4" name="Rectangle 3"/>
          <p:cNvSpPr/>
          <p:nvPr/>
        </p:nvSpPr>
        <p:spPr>
          <a:xfrm>
            <a:off x="566928" y="1234440"/>
            <a:ext cx="1005840" cy="41148"/>
          </a:xfrm>
          <a:prstGeom prst="rect">
            <a:avLst/>
          </a:prstGeom>
          <a:solidFill>
            <a:srgbClr val="F7931A"/>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a:solidFill>
                  <a:srgbClr val="F5F5F7"/>
                </a:solidFill>
                <a:latin typeface="Arial"/>
              </a:rPr>
              <a:t/>
            </a:r>
          </a:p>
        </p:txBody>
      </p:sp>
      <p:sp>
        <p:nvSpPr>
          <p:cNvPr id="5" name="Rounded Rectangle 4"/>
          <p:cNvSpPr/>
          <p:nvPr/>
        </p:nvSpPr>
        <p:spPr>
          <a:xfrm>
            <a:off x="1188720" y="1691640"/>
            <a:ext cx="9784080" cy="1965960"/>
          </a:xfrm>
          <a:prstGeom prst="roundRect">
            <a:avLst/>
          </a:prstGeom>
          <a:solidFill>
            <a:srgbClr val="0D111C"/>
          </a:solidFill>
          <a:ln w="12700">
            <a:solidFill>
              <a:srgbClr val="2A3045"/>
            </a:solidFill>
          </a:ln>
          <a:effectLst/>
        </p:spPr>
        <p:style>
          <a:lnRef idx="1">
            <a:schemeClr val="accent1"/>
          </a:lnRef>
          <a:fillRef idx="3">
            <a:schemeClr val="accent1"/>
          </a:fillRef>
          <a:effectRef idx="2">
            <a:schemeClr val="accent1"/>
          </a:effectRef>
          <a:fontRef idx="minor">
            <a:schemeClr val="lt1"/>
          </a:fontRef>
        </p:style>
        <p:txBody>
          <a:bodyPr rtlCol="0" anchor="ctr" wrap="none" lIns="201168" tIns="146304" rIns="137160" bIns="109728"/>
          <a:lstStyle/>
          <a:p>
            <a:pPr algn="ctr"/>
            <a:r>
              <a:rPr sz="1900" b="0">
                <a:solidFill>
                  <a:srgbClr val="D8DCE8"/>
                </a:solidFill>
                <a:latin typeface="Courier New"/>
              </a:rPr>
              <a:t>&lt;LightningCheckout</a:t>
            </a:r>
          </a:p>
          <a:p>
            <a:r>
              <a:rPr sz="1900" b="0">
                <a:solidFill>
                  <a:srgbClr val="D8DCE8"/>
                </a:solidFill>
                <a:latin typeface="Courier New"/>
              </a:rPr>
              <a:t>  description="Unlock premium content"</a:t>
            </a:r>
          </a:p>
          <a:p>
            <a:r>
              <a:rPr sz="1900" b="0">
                <a:solidFill>
                  <a:srgbClr val="D8DCE8"/>
                </a:solidFill>
                <a:latin typeface="Courier New"/>
              </a:rPr>
              <a:t>  amount_msat={20_000_000}</a:t>
            </a:r>
          </a:p>
          <a:p>
            <a:r>
              <a:rPr sz="1900" b="0">
                <a:solidFill>
                  <a:srgbClr val="D8DCE8"/>
                </a:solidFill>
                <a:latin typeface="Courier New"/>
              </a:rPr>
              <a:t>  onSuccess={(invoice) =&gt; setUnlocked(true)}</a:t>
            </a:r>
          </a:p>
          <a:p>
            <a:r>
              <a:rPr sz="1900" b="0">
                <a:solidFill>
                  <a:srgbClr val="D8DCE8"/>
                </a:solidFill>
                <a:latin typeface="Courier New"/>
              </a:rPr>
              <a:t>/&gt;</a:t>
            </a:r>
          </a:p>
        </p:txBody>
      </p:sp>
      <p:sp>
        <p:nvSpPr>
          <p:cNvPr id="6" name="TextBox 5"/>
          <p:cNvSpPr txBox="1"/>
          <p:nvPr/>
        </p:nvSpPr>
        <p:spPr>
          <a:xfrm>
            <a:off x="1188720" y="3840480"/>
            <a:ext cx="9784080" cy="320040"/>
          </a:xfrm>
          <a:prstGeom prst="rect">
            <a:avLst/>
          </a:prstGeom>
          <a:noFill/>
        </p:spPr>
        <p:txBody>
          <a:bodyPr wrap="square">
            <a:spAutoFit/>
          </a:bodyPr>
          <a:lstStyle/>
          <a:p>
            <a:pPr algn="ctr"/>
            <a:r>
              <a:rPr sz="1300" b="0" i="1">
                <a:solidFill>
                  <a:srgbClr val="8B92A6"/>
                </a:solidFill>
                <a:latin typeface="Arial"/>
              </a:rPr>
              <a:t>↓  all handled inside the component</a:t>
            </a:r>
          </a:p>
        </p:txBody>
      </p:sp>
      <p:sp>
        <p:nvSpPr>
          <p:cNvPr id="7" name="Rounded Rectangle 6"/>
          <p:cNvSpPr/>
          <p:nvPr/>
        </p:nvSpPr>
        <p:spPr>
          <a:xfrm>
            <a:off x="1188720" y="4297680"/>
            <a:ext cx="1516380" cy="1280160"/>
          </a:xfrm>
          <a:prstGeom prst="roundRect">
            <a:avLst/>
          </a:prstGeom>
          <a:solidFill>
            <a:srgbClr val="1E2438"/>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50" b="0">
                <a:solidFill>
                  <a:srgbClr val="F5F5F7"/>
                </a:solidFill>
                <a:latin typeface="Arial"/>
              </a:rPr>
              <a:t>🧾</a:t>
            </a:r>
          </a:p>
          <a:p>
            <a:pPr algn="ctr"/>
            <a:r>
              <a:rPr sz="1150" b="0">
                <a:solidFill>
                  <a:srgbClr val="F5F5F7"/>
                </a:solidFill>
                <a:latin typeface="Arial"/>
              </a:rPr>
              <a:t>Invoice</a:t>
            </a:r>
          </a:p>
        </p:txBody>
      </p:sp>
      <p:sp>
        <p:nvSpPr>
          <p:cNvPr id="8" name="Rounded Rectangle 7"/>
          <p:cNvSpPr/>
          <p:nvPr/>
        </p:nvSpPr>
        <p:spPr>
          <a:xfrm>
            <a:off x="2842260" y="4297680"/>
            <a:ext cx="1516380" cy="1280160"/>
          </a:xfrm>
          <a:prstGeom prst="roundRect">
            <a:avLst/>
          </a:prstGeom>
          <a:solidFill>
            <a:srgbClr val="1E2438"/>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50" b="0">
                <a:solidFill>
                  <a:srgbClr val="F5F5F7"/>
                </a:solidFill>
                <a:latin typeface="Arial"/>
              </a:rPr>
              <a:t>🔳</a:t>
            </a:r>
          </a:p>
          <a:p>
            <a:pPr algn="ctr"/>
            <a:r>
              <a:rPr sz="1150" b="0">
                <a:solidFill>
                  <a:srgbClr val="F5F5F7"/>
                </a:solidFill>
                <a:latin typeface="Arial"/>
              </a:rPr>
              <a:t>QR</a:t>
            </a:r>
          </a:p>
        </p:txBody>
      </p:sp>
      <p:sp>
        <p:nvSpPr>
          <p:cNvPr id="9" name="Rounded Rectangle 8"/>
          <p:cNvSpPr/>
          <p:nvPr/>
        </p:nvSpPr>
        <p:spPr>
          <a:xfrm>
            <a:off x="4495799" y="4297680"/>
            <a:ext cx="1516380" cy="1280160"/>
          </a:xfrm>
          <a:prstGeom prst="roundRect">
            <a:avLst/>
          </a:prstGeom>
          <a:solidFill>
            <a:srgbClr val="1E2438"/>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50" b="0">
                <a:solidFill>
                  <a:srgbClr val="F5F5F7"/>
                </a:solidFill>
                <a:latin typeface="Arial"/>
              </a:rPr>
              <a:t>⏱</a:t>
            </a:r>
          </a:p>
          <a:p>
            <a:pPr algn="ctr"/>
            <a:r>
              <a:rPr sz="1150" b="0">
                <a:solidFill>
                  <a:srgbClr val="F5F5F7"/>
                </a:solidFill>
                <a:latin typeface="Arial"/>
              </a:rPr>
              <a:t>Expiry</a:t>
            </a:r>
          </a:p>
          <a:p>
            <a:pPr algn="ctr"/>
            <a:r>
              <a:rPr sz="1150" b="0">
                <a:solidFill>
                  <a:srgbClr val="F5F5F7"/>
                </a:solidFill>
                <a:latin typeface="Arial"/>
              </a:rPr>
              <a:t>countdown</a:t>
            </a:r>
          </a:p>
        </p:txBody>
      </p:sp>
      <p:sp>
        <p:nvSpPr>
          <p:cNvPr id="10" name="Rounded Rectangle 9"/>
          <p:cNvSpPr/>
          <p:nvPr/>
        </p:nvSpPr>
        <p:spPr>
          <a:xfrm>
            <a:off x="6149340" y="4297680"/>
            <a:ext cx="1516380" cy="1280160"/>
          </a:xfrm>
          <a:prstGeom prst="roundRect">
            <a:avLst/>
          </a:prstGeom>
          <a:solidFill>
            <a:srgbClr val="1E2438"/>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50" b="0">
                <a:solidFill>
                  <a:srgbClr val="F5F5F7"/>
                </a:solidFill>
                <a:latin typeface="Arial"/>
              </a:rPr>
              <a:t>🔁</a:t>
            </a:r>
          </a:p>
          <a:p>
            <a:pPr algn="ctr"/>
            <a:r>
              <a:rPr sz="1150" b="0">
                <a:solidFill>
                  <a:srgbClr val="F5F5F7"/>
                </a:solidFill>
                <a:latin typeface="Arial"/>
              </a:rPr>
              <a:t>Polling</a:t>
            </a:r>
          </a:p>
        </p:txBody>
      </p:sp>
      <p:sp>
        <p:nvSpPr>
          <p:cNvPr id="11" name="Rounded Rectangle 10"/>
          <p:cNvSpPr/>
          <p:nvPr/>
        </p:nvSpPr>
        <p:spPr>
          <a:xfrm>
            <a:off x="7802880" y="4297680"/>
            <a:ext cx="1516380" cy="1280160"/>
          </a:xfrm>
          <a:prstGeom prst="roundRect">
            <a:avLst/>
          </a:prstGeom>
          <a:solidFill>
            <a:srgbClr val="1E2438"/>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50" b="0">
                <a:solidFill>
                  <a:srgbClr val="F5F5F7"/>
                </a:solidFill>
                <a:latin typeface="Arial"/>
              </a:rPr>
              <a:t>📢</a:t>
            </a:r>
          </a:p>
          <a:p>
            <a:pPr algn="ctr"/>
            <a:r>
              <a:rPr sz="1150" b="0">
                <a:solidFill>
                  <a:srgbClr val="F5F5F7"/>
                </a:solidFill>
                <a:latin typeface="Arial"/>
              </a:rPr>
              <a:t>Channel</a:t>
            </a:r>
          </a:p>
          <a:p>
            <a:pPr algn="ctr"/>
            <a:r>
              <a:rPr sz="1150" b="0">
                <a:solidFill>
                  <a:srgbClr val="F5F5F7"/>
                </a:solidFill>
                <a:latin typeface="Arial"/>
              </a:rPr>
              <a:t>banner</a:t>
            </a:r>
          </a:p>
        </p:txBody>
      </p:sp>
      <p:sp>
        <p:nvSpPr>
          <p:cNvPr id="12" name="Rounded Rectangle 11"/>
          <p:cNvSpPr/>
          <p:nvPr/>
        </p:nvSpPr>
        <p:spPr>
          <a:xfrm>
            <a:off x="9456420" y="4297680"/>
            <a:ext cx="1516380" cy="1280160"/>
          </a:xfrm>
          <a:prstGeom prst="roundRect">
            <a:avLst/>
          </a:prstGeom>
          <a:solidFill>
            <a:srgbClr val="1E2438"/>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50" b="0">
                <a:solidFill>
                  <a:srgbClr val="F5F5F7"/>
                </a:solidFill>
                <a:latin typeface="Arial"/>
              </a:rPr>
              <a:t>♻️</a:t>
            </a:r>
          </a:p>
          <a:p>
            <a:pPr algn="ctr"/>
            <a:r>
              <a:rPr sz="1150" b="0">
                <a:solidFill>
                  <a:srgbClr val="F5F5F7"/>
                </a:solidFill>
                <a:latin typeface="Arial"/>
              </a:rPr>
              <a:t>Retry</a:t>
            </a:r>
          </a:p>
        </p:txBody>
      </p:sp>
      <p:sp>
        <p:nvSpPr>
          <p:cNvPr id="13" name="TextBox 12"/>
          <p:cNvSpPr txBox="1"/>
          <p:nvPr/>
        </p:nvSpPr>
        <p:spPr>
          <a:xfrm>
            <a:off x="548640" y="6492240"/>
            <a:ext cx="5486400" cy="274320"/>
          </a:xfrm>
          <a:prstGeom prst="rect">
            <a:avLst/>
          </a:prstGeom>
          <a:noFill/>
        </p:spPr>
        <p:txBody>
          <a:bodyPr wrap="square">
            <a:spAutoFit/>
          </a:bodyPr>
          <a:lstStyle/>
          <a:p>
            <a:pPr algn="l"/>
            <a:r>
              <a:rPr sz="900" b="0" i="0">
                <a:solidFill>
                  <a:srgbClr val="8B92A6"/>
                </a:solidFill>
                <a:latin typeface="Arial"/>
              </a:rPr>
              <a:t>LSPS2 Beyond Mobile</a:t>
            </a:r>
          </a:p>
        </p:txBody>
      </p:sp>
      <p:sp>
        <p:nvSpPr>
          <p:cNvPr id="14" name="TextBox 13"/>
          <p:cNvSpPr txBox="1"/>
          <p:nvPr/>
        </p:nvSpPr>
        <p:spPr>
          <a:xfrm>
            <a:off x="10424160" y="6492240"/>
            <a:ext cx="1280160" cy="274320"/>
          </a:xfrm>
          <a:prstGeom prst="rect">
            <a:avLst/>
          </a:prstGeom>
          <a:noFill/>
        </p:spPr>
        <p:txBody>
          <a:bodyPr wrap="square">
            <a:spAutoFit/>
          </a:bodyPr>
          <a:lstStyle/>
          <a:p>
            <a:pPr algn="r"/>
            <a:r>
              <a:rPr sz="900" b="0" i="0">
                <a:solidFill>
                  <a:srgbClr val="8B92A6"/>
                </a:solidFill>
                <a:latin typeface="Arial"/>
              </a:rPr>
              <a:t>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548640" y="201168"/>
            <a:ext cx="10515600" cy="365760"/>
          </a:xfrm>
          <a:prstGeom prst="rect">
            <a:avLst/>
          </a:prstGeom>
          <a:noFill/>
        </p:spPr>
        <p:txBody>
          <a:bodyPr wrap="square">
            <a:spAutoFit/>
          </a:bodyPr>
          <a:lstStyle/>
          <a:p>
            <a:pPr algn="l"/>
            <a:r>
              <a:rPr sz="1300" b="1" i="0">
                <a:solidFill>
                  <a:srgbClr val="F7931A"/>
                </a:solidFill>
                <a:latin typeface="Arial"/>
              </a:rPr>
              <a:t>LIVE</a:t>
            </a:r>
          </a:p>
        </p:txBody>
      </p:sp>
      <p:sp>
        <p:nvSpPr>
          <p:cNvPr id="3" name="TextBox 2"/>
          <p:cNvSpPr txBox="1"/>
          <p:nvPr/>
        </p:nvSpPr>
        <p:spPr>
          <a:xfrm>
            <a:off x="548640" y="502920"/>
            <a:ext cx="11064240" cy="777240"/>
          </a:xfrm>
          <a:prstGeom prst="rect">
            <a:avLst/>
          </a:prstGeom>
          <a:noFill/>
        </p:spPr>
        <p:txBody>
          <a:bodyPr wrap="square">
            <a:spAutoFit/>
          </a:bodyPr>
          <a:lstStyle/>
          <a:p>
            <a:pPr algn="l"/>
            <a:r>
              <a:rPr sz="3000" b="1" i="0">
                <a:solidFill>
                  <a:srgbClr val="F5F5F7"/>
                </a:solidFill>
                <a:latin typeface="Arial"/>
              </a:rPr>
              <a:t>Demo: Pay-to-Unlock</a:t>
            </a:r>
          </a:p>
        </p:txBody>
      </p:sp>
      <p:sp>
        <p:nvSpPr>
          <p:cNvPr id="4" name="Rectangle 3"/>
          <p:cNvSpPr/>
          <p:nvPr/>
        </p:nvSpPr>
        <p:spPr>
          <a:xfrm>
            <a:off x="566928" y="1234440"/>
            <a:ext cx="1005840" cy="41148"/>
          </a:xfrm>
          <a:prstGeom prst="rect">
            <a:avLst/>
          </a:prstGeom>
          <a:solidFill>
            <a:srgbClr val="F7931A"/>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a:solidFill>
                  <a:srgbClr val="F5F5F7"/>
                </a:solidFill>
                <a:latin typeface="Arial"/>
              </a:rPr>
              <a:t/>
            </a:r>
          </a:p>
        </p:txBody>
      </p:sp>
      <p:sp>
        <p:nvSpPr>
          <p:cNvPr id="5" name="Rounded Rectangle 4"/>
          <p:cNvSpPr/>
          <p:nvPr/>
        </p:nvSpPr>
        <p:spPr>
          <a:xfrm>
            <a:off x="417423" y="2468880"/>
            <a:ext cx="1572768" cy="164592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a:solidFill>
                  <a:srgbClr val="F5F5F7"/>
                </a:solidFill>
                <a:latin typeface="Arial"/>
              </a:rPr>
              <a:t>🔒</a:t>
            </a:r>
          </a:p>
          <a:p>
            <a:pPr algn="ctr"/>
            <a:r>
              <a:rPr sz="1300" b="0">
                <a:solidFill>
                  <a:srgbClr val="F5F5F7"/>
                </a:solidFill>
                <a:latin typeface="Arial"/>
              </a:rPr>
              <a:t>Content</a:t>
            </a:r>
          </a:p>
          <a:p>
            <a:pPr algn="ctr"/>
            <a:r>
              <a:rPr sz="1300" b="0">
                <a:solidFill>
                  <a:srgbClr val="F5F5F7"/>
                </a:solidFill>
                <a:latin typeface="Arial"/>
              </a:rPr>
              <a:t>Blurred</a:t>
            </a:r>
          </a:p>
        </p:txBody>
      </p:sp>
      <p:cxnSp>
        <p:nvCxnSpPr>
          <p:cNvPr id="6" name="Connector 5"/>
          <p:cNvCxnSpPr/>
          <p:nvPr/>
        </p:nvCxnSpPr>
        <p:spPr>
          <a:xfrm>
            <a:off x="1990191" y="3291840"/>
            <a:ext cx="384048" cy="0"/>
          </a:xfrm>
          <a:prstGeom prst="line">
            <a:avLst/>
          </a:prstGeom>
          <a:ln w="2540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374239" y="2468880"/>
            <a:ext cx="1572768" cy="164592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a:solidFill>
                  <a:srgbClr val="F5F5F7"/>
                </a:solidFill>
                <a:latin typeface="Arial"/>
              </a:rPr>
              <a:t>💳</a:t>
            </a:r>
          </a:p>
          <a:p>
            <a:pPr algn="ctr"/>
            <a:r>
              <a:rPr sz="1300" b="0">
                <a:solidFill>
                  <a:srgbClr val="F5F5F7"/>
                </a:solidFill>
                <a:latin typeface="Arial"/>
              </a:rPr>
              <a:t>Click</a:t>
            </a:r>
          </a:p>
          <a:p>
            <a:pPr algn="ctr"/>
            <a:r>
              <a:rPr sz="1300" b="0">
                <a:solidFill>
                  <a:srgbClr val="F5F5F7"/>
                </a:solidFill>
                <a:latin typeface="Arial"/>
              </a:rPr>
              <a:t>Pay</a:t>
            </a:r>
          </a:p>
        </p:txBody>
      </p:sp>
      <p:cxnSp>
        <p:nvCxnSpPr>
          <p:cNvPr id="8" name="Connector 7"/>
          <p:cNvCxnSpPr/>
          <p:nvPr/>
        </p:nvCxnSpPr>
        <p:spPr>
          <a:xfrm>
            <a:off x="3947007" y="3291840"/>
            <a:ext cx="384048" cy="0"/>
          </a:xfrm>
          <a:prstGeom prst="line">
            <a:avLst/>
          </a:prstGeom>
          <a:ln w="2540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331055" y="2468880"/>
            <a:ext cx="1572768" cy="164592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a:solidFill>
                  <a:srgbClr val="F5F5F7"/>
                </a:solidFill>
                <a:latin typeface="Arial"/>
              </a:rPr>
              <a:t>🔳</a:t>
            </a:r>
          </a:p>
          <a:p>
            <a:pPr algn="ctr"/>
            <a:r>
              <a:rPr sz="1300" b="0">
                <a:solidFill>
                  <a:srgbClr val="F5F5F7"/>
                </a:solidFill>
                <a:latin typeface="Arial"/>
              </a:rPr>
              <a:t>QR</a:t>
            </a:r>
          </a:p>
          <a:p>
            <a:pPr algn="ctr"/>
            <a:r>
              <a:rPr sz="1300" b="0">
                <a:solidFill>
                  <a:srgbClr val="F5F5F7"/>
                </a:solidFill>
                <a:latin typeface="Arial"/>
              </a:rPr>
              <a:t>Appears</a:t>
            </a:r>
          </a:p>
        </p:txBody>
      </p:sp>
      <p:cxnSp>
        <p:nvCxnSpPr>
          <p:cNvPr id="10" name="Connector 9"/>
          <p:cNvCxnSpPr/>
          <p:nvPr/>
        </p:nvCxnSpPr>
        <p:spPr>
          <a:xfrm>
            <a:off x="5903823" y="3291840"/>
            <a:ext cx="384048" cy="0"/>
          </a:xfrm>
          <a:prstGeom prst="line">
            <a:avLst/>
          </a:prstGeom>
          <a:ln w="2540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87871" y="2468880"/>
            <a:ext cx="1572768" cy="164592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a:solidFill>
                  <a:srgbClr val="F5F5F7"/>
                </a:solidFill>
                <a:latin typeface="Arial"/>
              </a:rPr>
              <a:t>⌨️</a:t>
            </a:r>
          </a:p>
          <a:p>
            <a:pPr algn="ctr"/>
            <a:r>
              <a:rPr sz="1300" b="0">
                <a:solidFill>
                  <a:srgbClr val="F5F5F7"/>
                </a:solidFill>
                <a:latin typeface="Arial"/>
              </a:rPr>
              <a:t>Pay via</a:t>
            </a:r>
          </a:p>
          <a:p>
            <a:pPr algn="ctr"/>
            <a:r>
              <a:rPr sz="1300" b="0">
                <a:solidFill>
                  <a:srgbClr val="F5F5F7"/>
                </a:solidFill>
                <a:latin typeface="Arial"/>
              </a:rPr>
              <a:t>CLI</a:t>
            </a:r>
          </a:p>
        </p:txBody>
      </p:sp>
      <p:cxnSp>
        <p:nvCxnSpPr>
          <p:cNvPr id="12" name="Connector 11"/>
          <p:cNvCxnSpPr/>
          <p:nvPr/>
        </p:nvCxnSpPr>
        <p:spPr>
          <a:xfrm>
            <a:off x="7860639" y="3291840"/>
            <a:ext cx="384048" cy="0"/>
          </a:xfrm>
          <a:prstGeom prst="line">
            <a:avLst/>
          </a:prstGeom>
          <a:ln w="2540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244687" y="2468880"/>
            <a:ext cx="1572768" cy="1645920"/>
          </a:xfrm>
          <a:prstGeom prst="roundRect">
            <a:avLst/>
          </a:prstGeom>
          <a:solidFill>
            <a:srgbClr val="1E2438"/>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a:solidFill>
                  <a:srgbClr val="F5F5F7"/>
                </a:solidFill>
                <a:latin typeface="Arial"/>
              </a:rPr>
              <a:t>⏳</a:t>
            </a:r>
          </a:p>
          <a:p>
            <a:pPr algn="ctr"/>
            <a:r>
              <a:rPr sz="1300" b="0">
                <a:solidFill>
                  <a:srgbClr val="F5F5F7"/>
                </a:solidFill>
                <a:latin typeface="Arial"/>
              </a:rPr>
              <a:t>Opening</a:t>
            </a:r>
          </a:p>
          <a:p>
            <a:pPr algn="ctr"/>
            <a:r>
              <a:rPr sz="1300" b="0">
                <a:solidFill>
                  <a:srgbClr val="F5F5F7"/>
                </a:solidFill>
                <a:latin typeface="Arial"/>
              </a:rPr>
              <a:t>Channel…</a:t>
            </a:r>
          </a:p>
        </p:txBody>
      </p:sp>
      <p:cxnSp>
        <p:nvCxnSpPr>
          <p:cNvPr id="14" name="Connector 13"/>
          <p:cNvCxnSpPr/>
          <p:nvPr/>
        </p:nvCxnSpPr>
        <p:spPr>
          <a:xfrm>
            <a:off x="9817455" y="3291840"/>
            <a:ext cx="384048" cy="0"/>
          </a:xfrm>
          <a:prstGeom prst="line">
            <a:avLst/>
          </a:prstGeom>
          <a:ln w="25400">
            <a:solidFill>
              <a:srgbClr val="8B92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201503" y="2468880"/>
            <a:ext cx="1572768" cy="1645920"/>
          </a:xfrm>
          <a:prstGeom prst="roundRect">
            <a:avLst/>
          </a:prstGeom>
          <a:solidFill>
            <a:srgbClr val="171B29"/>
          </a:solid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a:solidFill>
                  <a:srgbClr val="F5F5F7"/>
                </a:solidFill>
                <a:latin typeface="Arial"/>
              </a:rPr>
              <a:t>🔓</a:t>
            </a:r>
          </a:p>
          <a:p>
            <a:pPr algn="ctr"/>
            <a:r>
              <a:rPr sz="1300" b="0">
                <a:solidFill>
                  <a:srgbClr val="F5F5F7"/>
                </a:solidFill>
                <a:latin typeface="Arial"/>
              </a:rPr>
              <a:t>Content</a:t>
            </a:r>
          </a:p>
          <a:p>
            <a:pPr algn="ctr"/>
            <a:r>
              <a:rPr sz="1300" b="0">
                <a:solidFill>
                  <a:srgbClr val="F5F5F7"/>
                </a:solidFill>
                <a:latin typeface="Arial"/>
              </a:rPr>
              <a:t>Revealed</a:t>
            </a:r>
          </a:p>
        </p:txBody>
      </p:sp>
      <p:sp>
        <p:nvSpPr>
          <p:cNvPr id="16" name="TextBox 15"/>
          <p:cNvSpPr txBox="1"/>
          <p:nvPr/>
        </p:nvSpPr>
        <p:spPr>
          <a:xfrm>
            <a:off x="548640" y="4709160"/>
            <a:ext cx="11064240" cy="365760"/>
          </a:xfrm>
          <a:prstGeom prst="rect">
            <a:avLst/>
          </a:prstGeom>
          <a:noFill/>
        </p:spPr>
        <p:txBody>
          <a:bodyPr wrap="square">
            <a:spAutoFit/>
          </a:bodyPr>
          <a:lstStyle/>
          <a:p>
            <a:pPr algn="ctr"/>
            <a:r>
              <a:rPr sz="1300" b="0" i="1">
                <a:solidFill>
                  <a:srgbClr val="8B92A6"/>
                </a:solidFill>
                <a:latin typeface="Arial"/>
              </a:rPr>
              <a:t>Live — content stays blurred until a real Lightning payment settles</a:t>
            </a:r>
          </a:p>
        </p:txBody>
      </p:sp>
      <p:sp>
        <p:nvSpPr>
          <p:cNvPr id="17" name="TextBox 16"/>
          <p:cNvSpPr txBox="1"/>
          <p:nvPr/>
        </p:nvSpPr>
        <p:spPr>
          <a:xfrm>
            <a:off x="548640" y="6492240"/>
            <a:ext cx="5486400" cy="274320"/>
          </a:xfrm>
          <a:prstGeom prst="rect">
            <a:avLst/>
          </a:prstGeom>
          <a:noFill/>
        </p:spPr>
        <p:txBody>
          <a:bodyPr wrap="square">
            <a:spAutoFit/>
          </a:bodyPr>
          <a:lstStyle/>
          <a:p>
            <a:pPr algn="l"/>
            <a:r>
              <a:rPr sz="900" b="0" i="0">
                <a:solidFill>
                  <a:srgbClr val="8B92A6"/>
                </a:solidFill>
                <a:latin typeface="Arial"/>
              </a:rPr>
              <a:t>LSPS2 Beyond Mobile</a:t>
            </a:r>
          </a:p>
        </p:txBody>
      </p:sp>
      <p:sp>
        <p:nvSpPr>
          <p:cNvPr id="18" name="TextBox 17"/>
          <p:cNvSpPr txBox="1"/>
          <p:nvPr/>
        </p:nvSpPr>
        <p:spPr>
          <a:xfrm>
            <a:off x="10424160" y="6492240"/>
            <a:ext cx="1280160" cy="274320"/>
          </a:xfrm>
          <a:prstGeom prst="rect">
            <a:avLst/>
          </a:prstGeom>
          <a:noFill/>
        </p:spPr>
        <p:txBody>
          <a:bodyPr wrap="square">
            <a:spAutoFit/>
          </a:bodyPr>
          <a:lstStyle/>
          <a:p>
            <a:pPr algn="r"/>
            <a:r>
              <a:rPr sz="900" b="0" i="0">
                <a:solidFill>
                  <a:srgbClr val="8B92A6"/>
                </a:solidFill>
                <a:latin typeface="Arial"/>
              </a:rPr>
              <a:t>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548640" y="201168"/>
            <a:ext cx="10515600" cy="365760"/>
          </a:xfrm>
          <a:prstGeom prst="rect">
            <a:avLst/>
          </a:prstGeom>
          <a:noFill/>
        </p:spPr>
        <p:txBody>
          <a:bodyPr wrap="square">
            <a:spAutoFit/>
          </a:bodyPr>
          <a:lstStyle/>
          <a:p>
            <a:pPr algn="l"/>
            <a:r>
              <a:rPr sz="1300" b="1" i="0">
                <a:solidFill>
                  <a:srgbClr val="F7931A"/>
                </a:solidFill>
                <a:latin typeface="Arial"/>
              </a:rPr>
              <a:t>ROADMAP</a:t>
            </a:r>
          </a:p>
        </p:txBody>
      </p:sp>
      <p:sp>
        <p:nvSpPr>
          <p:cNvPr id="3" name="TextBox 2"/>
          <p:cNvSpPr txBox="1"/>
          <p:nvPr/>
        </p:nvSpPr>
        <p:spPr>
          <a:xfrm>
            <a:off x="548640" y="502920"/>
            <a:ext cx="11064240" cy="777240"/>
          </a:xfrm>
          <a:prstGeom prst="rect">
            <a:avLst/>
          </a:prstGeom>
          <a:noFill/>
        </p:spPr>
        <p:txBody>
          <a:bodyPr wrap="square">
            <a:spAutoFit/>
          </a:bodyPr>
          <a:lstStyle/>
          <a:p>
            <a:pPr algn="l"/>
            <a:r>
              <a:rPr sz="3000" b="1" i="0">
                <a:solidFill>
                  <a:srgbClr val="F5F5F7"/>
                </a:solidFill>
                <a:latin typeface="Arial"/>
              </a:rPr>
              <a:t>What's Next</a:t>
            </a:r>
          </a:p>
        </p:txBody>
      </p:sp>
      <p:sp>
        <p:nvSpPr>
          <p:cNvPr id="4" name="Rectangle 3"/>
          <p:cNvSpPr/>
          <p:nvPr/>
        </p:nvSpPr>
        <p:spPr>
          <a:xfrm>
            <a:off x="566928" y="1234440"/>
            <a:ext cx="1005840" cy="41148"/>
          </a:xfrm>
          <a:prstGeom prst="rect">
            <a:avLst/>
          </a:prstGeom>
          <a:solidFill>
            <a:srgbClr val="F7931A"/>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a:solidFill>
                  <a:srgbClr val="F5F5F7"/>
                </a:solidFill>
                <a:latin typeface="Arial"/>
              </a:rPr>
              <a:t/>
            </a:r>
          </a:p>
        </p:txBody>
      </p:sp>
      <p:cxnSp>
        <p:nvCxnSpPr>
          <p:cNvPr id="5" name="Connector 4"/>
          <p:cNvCxnSpPr/>
          <p:nvPr/>
        </p:nvCxnSpPr>
        <p:spPr>
          <a:xfrm>
            <a:off x="499719" y="3200400"/>
            <a:ext cx="11192256" cy="0"/>
          </a:xfrm>
          <a:prstGeom prst="line">
            <a:avLst/>
          </a:prstGeom>
          <a:ln w="25400">
            <a:solidFill>
              <a:srgbClr val="3A40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99719" y="1965960"/>
            <a:ext cx="2606040" cy="2468880"/>
          </a:xfrm>
          <a:prstGeom prst="roundRect">
            <a:avLst/>
          </a:prstGeom>
          <a:solidFill>
            <a:srgbClr val="171B29"/>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400" b="0">
                <a:solidFill>
                  <a:srgbClr val="F5F5F7"/>
                </a:solidFill>
                <a:latin typeface="Arial"/>
              </a:rPr>
              <a:t/>
            </a:r>
          </a:p>
        </p:txBody>
      </p:sp>
      <p:sp>
        <p:nvSpPr>
          <p:cNvPr id="7" name="TextBox 6"/>
          <p:cNvSpPr txBox="1"/>
          <p:nvPr/>
        </p:nvSpPr>
        <p:spPr>
          <a:xfrm>
            <a:off x="609447" y="2103120"/>
            <a:ext cx="2386584" cy="640080"/>
          </a:xfrm>
          <a:prstGeom prst="rect">
            <a:avLst/>
          </a:prstGeom>
          <a:noFill/>
        </p:spPr>
        <p:txBody>
          <a:bodyPr wrap="square">
            <a:spAutoFit/>
          </a:bodyPr>
          <a:lstStyle/>
          <a:p>
            <a:pPr algn="l"/>
            <a:r>
              <a:rPr sz="1350" b="1" i="0">
                <a:solidFill>
                  <a:srgbClr val="F7931A"/>
                </a:solidFill>
                <a:latin typeface="Arial"/>
              </a:rPr>
              <a:t>🧾 BOLT12 Static Offers</a:t>
            </a:r>
          </a:p>
        </p:txBody>
      </p:sp>
      <p:sp>
        <p:nvSpPr>
          <p:cNvPr id="8" name="TextBox 7"/>
          <p:cNvSpPr txBox="1"/>
          <p:nvPr/>
        </p:nvSpPr>
        <p:spPr>
          <a:xfrm>
            <a:off x="609447" y="2743200"/>
            <a:ext cx="2386584" cy="1554480"/>
          </a:xfrm>
          <a:prstGeom prst="rect">
            <a:avLst/>
          </a:prstGeom>
          <a:noFill/>
        </p:spPr>
        <p:txBody>
          <a:bodyPr wrap="square">
            <a:spAutoFit/>
          </a:bodyPr>
          <a:lstStyle/>
          <a:p>
            <a:pPr algn="l"/>
            <a:r>
              <a:rPr sz="1150" b="0" i="0">
                <a:solidFill>
                  <a:srgbClr val="F5F5F7"/>
                </a:solidFill>
                <a:latin typeface="Arial"/>
              </a:rPr>
              <a:t>Merchant publishes once. JIT channel still opens on first payment — BOLT12 changes invoice negotiation, not the liquidity model.</a:t>
            </a:r>
          </a:p>
        </p:txBody>
      </p:sp>
      <p:sp>
        <p:nvSpPr>
          <p:cNvPr id="9" name="Rounded Rectangle 8"/>
          <p:cNvSpPr/>
          <p:nvPr/>
        </p:nvSpPr>
        <p:spPr>
          <a:xfrm>
            <a:off x="3361791" y="1965960"/>
            <a:ext cx="2606040" cy="2468880"/>
          </a:xfrm>
          <a:prstGeom prst="roundRect">
            <a:avLst/>
          </a:prstGeom>
          <a:solidFill>
            <a:srgbClr val="171B29"/>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400" b="0">
                <a:solidFill>
                  <a:srgbClr val="F5F5F7"/>
                </a:solidFill>
                <a:latin typeface="Arial"/>
              </a:rPr>
              <a:t/>
            </a:r>
          </a:p>
        </p:txBody>
      </p:sp>
      <p:sp>
        <p:nvSpPr>
          <p:cNvPr id="10" name="TextBox 9"/>
          <p:cNvSpPr txBox="1"/>
          <p:nvPr/>
        </p:nvSpPr>
        <p:spPr>
          <a:xfrm>
            <a:off x="3471519" y="2103120"/>
            <a:ext cx="2386584" cy="640080"/>
          </a:xfrm>
          <a:prstGeom prst="rect">
            <a:avLst/>
          </a:prstGeom>
          <a:noFill/>
        </p:spPr>
        <p:txBody>
          <a:bodyPr wrap="square">
            <a:spAutoFit/>
          </a:bodyPr>
          <a:lstStyle/>
          <a:p>
            <a:pPr algn="l"/>
            <a:r>
              <a:rPr sz="1350" b="1" i="0">
                <a:solidFill>
                  <a:srgbClr val="F7931A"/>
                </a:solidFill>
                <a:latin typeface="Arial"/>
              </a:rPr>
              <a:t>🔧 rust-lightning PR #4463</a:t>
            </a:r>
          </a:p>
        </p:txBody>
      </p:sp>
      <p:sp>
        <p:nvSpPr>
          <p:cNvPr id="11" name="TextBox 10"/>
          <p:cNvSpPr txBox="1"/>
          <p:nvPr/>
        </p:nvSpPr>
        <p:spPr>
          <a:xfrm>
            <a:off x="3471519" y="2743200"/>
            <a:ext cx="2386584" cy="1554480"/>
          </a:xfrm>
          <a:prstGeom prst="rect">
            <a:avLst/>
          </a:prstGeom>
          <a:noFill/>
        </p:spPr>
        <p:txBody>
          <a:bodyPr wrap="square">
            <a:spAutoFit/>
          </a:bodyPr>
          <a:lstStyle/>
          <a:p>
            <a:pPr algn="l"/>
            <a:r>
              <a:rPr sz="1150" b="0" i="0">
                <a:solidFill>
                  <a:srgbClr val="F5F5F7"/>
                </a:solidFill>
                <a:latin typeface="Arial"/>
              </a:rPr>
              <a:t>BOLT12 blinded paths carrying LSPS2 SCIDs.</a:t>
            </a:r>
          </a:p>
        </p:txBody>
      </p:sp>
      <p:sp>
        <p:nvSpPr>
          <p:cNvPr id="12" name="Rounded Rectangle 11"/>
          <p:cNvSpPr/>
          <p:nvPr/>
        </p:nvSpPr>
        <p:spPr>
          <a:xfrm>
            <a:off x="6223863" y="1965960"/>
            <a:ext cx="2606040" cy="2468880"/>
          </a:xfrm>
          <a:prstGeom prst="roundRect">
            <a:avLst/>
          </a:prstGeom>
          <a:solidFill>
            <a:srgbClr val="171B29"/>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400" b="0">
                <a:solidFill>
                  <a:srgbClr val="F5F5F7"/>
                </a:solidFill>
                <a:latin typeface="Arial"/>
              </a:rPr>
              <a:t/>
            </a:r>
          </a:p>
        </p:txBody>
      </p:sp>
      <p:sp>
        <p:nvSpPr>
          <p:cNvPr id="13" name="TextBox 12"/>
          <p:cNvSpPr txBox="1"/>
          <p:nvPr/>
        </p:nvSpPr>
        <p:spPr>
          <a:xfrm>
            <a:off x="6333591" y="2103120"/>
            <a:ext cx="2386584" cy="640080"/>
          </a:xfrm>
          <a:prstGeom prst="rect">
            <a:avLst/>
          </a:prstGeom>
          <a:noFill/>
        </p:spPr>
        <p:txBody>
          <a:bodyPr wrap="square">
            <a:spAutoFit/>
          </a:bodyPr>
          <a:lstStyle/>
          <a:p>
            <a:pPr algn="l"/>
            <a:r>
              <a:rPr sz="1350" b="1" i="0">
                <a:solidFill>
                  <a:srgbClr val="F7931A"/>
                </a:solidFill>
                <a:latin typeface="Arial"/>
              </a:rPr>
              <a:t>🪝 LSPS5 Webhooks</a:t>
            </a:r>
          </a:p>
        </p:txBody>
      </p:sp>
      <p:sp>
        <p:nvSpPr>
          <p:cNvPr id="14" name="TextBox 13"/>
          <p:cNvSpPr txBox="1"/>
          <p:nvPr/>
        </p:nvSpPr>
        <p:spPr>
          <a:xfrm>
            <a:off x="6333591" y="2743200"/>
            <a:ext cx="2386584" cy="1554480"/>
          </a:xfrm>
          <a:prstGeom prst="rect">
            <a:avLst/>
          </a:prstGeom>
          <a:noFill/>
        </p:spPr>
        <p:txBody>
          <a:bodyPr wrap="square">
            <a:spAutoFit/>
          </a:bodyPr>
          <a:lstStyle/>
          <a:p>
            <a:pPr algn="l"/>
            <a:r>
              <a:rPr sz="1150" b="0" i="0">
                <a:solidFill>
                  <a:srgbClr val="F5F5F7"/>
                </a:solidFill>
                <a:latin typeface="Arial"/>
              </a:rPr>
              <a:t>Hold HTLC → wake service → claim payment. A serverless merchant node.</a:t>
            </a:r>
          </a:p>
        </p:txBody>
      </p:sp>
      <p:sp>
        <p:nvSpPr>
          <p:cNvPr id="15" name="Rounded Rectangle 14"/>
          <p:cNvSpPr/>
          <p:nvPr/>
        </p:nvSpPr>
        <p:spPr>
          <a:xfrm>
            <a:off x="9085935" y="1965960"/>
            <a:ext cx="2606040" cy="2468880"/>
          </a:xfrm>
          <a:prstGeom prst="roundRect">
            <a:avLst/>
          </a:prstGeom>
          <a:solidFill>
            <a:srgbClr val="171B29"/>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400" b="0">
                <a:solidFill>
                  <a:srgbClr val="F5F5F7"/>
                </a:solidFill>
                <a:latin typeface="Arial"/>
              </a:rPr>
              <a:t/>
            </a:r>
          </a:p>
        </p:txBody>
      </p:sp>
      <p:sp>
        <p:nvSpPr>
          <p:cNvPr id="16" name="TextBox 15"/>
          <p:cNvSpPr txBox="1"/>
          <p:nvPr/>
        </p:nvSpPr>
        <p:spPr>
          <a:xfrm>
            <a:off x="9195663" y="2103120"/>
            <a:ext cx="2386584" cy="640080"/>
          </a:xfrm>
          <a:prstGeom prst="rect">
            <a:avLst/>
          </a:prstGeom>
          <a:noFill/>
        </p:spPr>
        <p:txBody>
          <a:bodyPr wrap="square">
            <a:spAutoFit/>
          </a:bodyPr>
          <a:lstStyle/>
          <a:p>
            <a:pPr algn="l"/>
            <a:r>
              <a:rPr sz="1350" b="1" i="0">
                <a:solidFill>
                  <a:srgbClr val="F7931A"/>
                </a:solidFill>
                <a:latin typeface="Arial"/>
              </a:rPr>
              <a:t>🌉 Ark / bark</a:t>
            </a:r>
          </a:p>
        </p:txBody>
      </p:sp>
      <p:sp>
        <p:nvSpPr>
          <p:cNvPr id="17" name="TextBox 16"/>
          <p:cNvSpPr txBox="1"/>
          <p:nvPr/>
        </p:nvSpPr>
        <p:spPr>
          <a:xfrm>
            <a:off x="9195663" y="2743200"/>
            <a:ext cx="2386584" cy="1554480"/>
          </a:xfrm>
          <a:prstGeom prst="rect">
            <a:avLst/>
          </a:prstGeom>
          <a:noFill/>
        </p:spPr>
        <p:txBody>
          <a:bodyPr wrap="square">
            <a:spAutoFit/>
          </a:bodyPr>
          <a:lstStyle/>
          <a:p>
            <a:pPr algn="l"/>
            <a:r>
              <a:rPr sz="1150" b="0" i="0">
                <a:solidFill>
                  <a:srgbClr val="F5F5F7"/>
                </a:solidFill>
                <a:latin typeface="Arial"/>
              </a:rPr>
              <a:t>bark 0.3.0 users can already pay our BOLT11 invoices today.</a:t>
            </a:r>
          </a:p>
        </p:txBody>
      </p:sp>
      <p:sp>
        <p:nvSpPr>
          <p:cNvPr id="18" name="TextBox 17"/>
          <p:cNvSpPr txBox="1"/>
          <p:nvPr/>
        </p:nvSpPr>
        <p:spPr>
          <a:xfrm>
            <a:off x="548640" y="6492240"/>
            <a:ext cx="5486400" cy="274320"/>
          </a:xfrm>
          <a:prstGeom prst="rect">
            <a:avLst/>
          </a:prstGeom>
          <a:noFill/>
        </p:spPr>
        <p:txBody>
          <a:bodyPr wrap="square">
            <a:spAutoFit/>
          </a:bodyPr>
          <a:lstStyle/>
          <a:p>
            <a:pPr algn="l"/>
            <a:r>
              <a:rPr sz="900" b="0" i="0">
                <a:solidFill>
                  <a:srgbClr val="8B92A6"/>
                </a:solidFill>
                <a:latin typeface="Arial"/>
              </a:rPr>
              <a:t>LSPS2 Beyond Mobile</a:t>
            </a:r>
          </a:p>
        </p:txBody>
      </p:sp>
      <p:sp>
        <p:nvSpPr>
          <p:cNvPr id="19" name="TextBox 18"/>
          <p:cNvSpPr txBox="1"/>
          <p:nvPr/>
        </p:nvSpPr>
        <p:spPr>
          <a:xfrm>
            <a:off x="10424160" y="6492240"/>
            <a:ext cx="1280160" cy="274320"/>
          </a:xfrm>
          <a:prstGeom prst="rect">
            <a:avLst/>
          </a:prstGeom>
          <a:noFill/>
        </p:spPr>
        <p:txBody>
          <a:bodyPr wrap="square">
            <a:spAutoFit/>
          </a:bodyPr>
          <a:lstStyle/>
          <a:p>
            <a:pPr algn="r"/>
            <a:r>
              <a:rPr sz="900" b="0" i="0">
                <a:solidFill>
                  <a:srgbClr val="8B92A6"/>
                </a:solidFill>
                <a:latin typeface="Arial"/>
              </a:rP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548640" y="457200"/>
            <a:ext cx="11064240" cy="365760"/>
          </a:xfrm>
          <a:prstGeom prst="rect">
            <a:avLst/>
          </a:prstGeom>
          <a:noFill/>
        </p:spPr>
        <p:txBody>
          <a:bodyPr wrap="square">
            <a:spAutoFit/>
          </a:bodyPr>
          <a:lstStyle/>
          <a:p>
            <a:pPr algn="ctr"/>
            <a:r>
              <a:rPr sz="1300" b="1" i="0">
                <a:solidFill>
                  <a:srgbClr val="F7931A"/>
                </a:solidFill>
                <a:latin typeface="Arial"/>
              </a:rPr>
              <a:t>THANK YOU</a:t>
            </a:r>
          </a:p>
        </p:txBody>
      </p:sp>
      <p:sp>
        <p:nvSpPr>
          <p:cNvPr id="3" name="TextBox 2"/>
          <p:cNvSpPr txBox="1"/>
          <p:nvPr/>
        </p:nvSpPr>
        <p:spPr>
          <a:xfrm>
            <a:off x="0" y="1554480"/>
            <a:ext cx="12191695" cy="1097280"/>
          </a:xfrm>
          <a:prstGeom prst="rect">
            <a:avLst/>
          </a:prstGeom>
          <a:noFill/>
        </p:spPr>
        <p:txBody>
          <a:bodyPr wrap="square">
            <a:spAutoFit/>
          </a:bodyPr>
          <a:lstStyle/>
          <a:p>
            <a:pPr algn="ctr"/>
            <a:r>
              <a:rPr sz="6400" b="0" i="0">
                <a:solidFill>
                  <a:srgbClr val="F7931A"/>
                </a:solidFill>
                <a:latin typeface="Arial"/>
              </a:rPr>
              <a:t>⚡</a:t>
            </a:r>
          </a:p>
        </p:txBody>
      </p:sp>
      <p:sp>
        <p:nvSpPr>
          <p:cNvPr id="4" name="TextBox 3"/>
          <p:cNvSpPr txBox="1"/>
          <p:nvPr/>
        </p:nvSpPr>
        <p:spPr>
          <a:xfrm>
            <a:off x="1188720" y="2788920"/>
            <a:ext cx="9811512" cy="1097280"/>
          </a:xfrm>
          <a:prstGeom prst="rect">
            <a:avLst/>
          </a:prstGeom>
          <a:noFill/>
        </p:spPr>
        <p:txBody>
          <a:bodyPr wrap="square">
            <a:spAutoFit/>
          </a:bodyPr>
          <a:lstStyle/>
          <a:p>
            <a:pPr algn="ctr"/>
            <a:r>
              <a:rPr sz="2400" b="1" i="0">
                <a:solidFill>
                  <a:srgbClr val="F5F5F7"/>
                </a:solidFill>
                <a:latin typeface="Arial"/>
              </a:rPr>
              <a:t>The same mechanism that makes Phoenix work on mobile</a:t>
            </a:r>
          </a:p>
          <a:p>
            <a:pPr algn="ctr"/>
            <a:r>
              <a:rPr sz="2400" b="1" i="0">
                <a:solidFill>
                  <a:srgbClr val="F5F5F7"/>
                </a:solidFill>
                <a:latin typeface="Arial"/>
              </a:rPr>
              <a:t>now works on the web.</a:t>
            </a:r>
          </a:p>
        </p:txBody>
      </p:sp>
      <p:sp>
        <p:nvSpPr>
          <p:cNvPr id="5" name="Rounded Rectangle 4"/>
          <p:cNvSpPr/>
          <p:nvPr/>
        </p:nvSpPr>
        <p:spPr>
          <a:xfrm>
            <a:off x="3355848" y="4297680"/>
            <a:ext cx="5486400" cy="685800"/>
          </a:xfrm>
          <a:prstGeom prst="roundRect">
            <a:avLst/>
          </a:prstGeom>
          <a:solidFill>
            <a:srgbClr val="1E2438"/>
          </a:solidFill>
          <a:ln w="15875">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F5F5F7"/>
                </a:solidFill>
                <a:latin typeface="Arial"/>
              </a:rPr>
              <a:t>🔗  github.com/f3r10/lightning-ecommerce</a:t>
            </a:r>
          </a:p>
        </p:txBody>
      </p:sp>
      <p:sp>
        <p:nvSpPr>
          <p:cNvPr id="6" name="TextBox 5"/>
          <p:cNvSpPr txBox="1"/>
          <p:nvPr/>
        </p:nvSpPr>
        <p:spPr>
          <a:xfrm>
            <a:off x="1188720" y="5212080"/>
            <a:ext cx="9811512" cy="365760"/>
          </a:xfrm>
          <a:prstGeom prst="rect">
            <a:avLst/>
          </a:prstGeom>
          <a:noFill/>
        </p:spPr>
        <p:txBody>
          <a:bodyPr wrap="square">
            <a:spAutoFit/>
          </a:bodyPr>
          <a:lstStyle/>
          <a:p>
            <a:pPr algn="ctr"/>
            <a:r>
              <a:rPr sz="1300" b="0" i="0">
                <a:solidFill>
                  <a:srgbClr val="8B92A6"/>
                </a:solidFill>
                <a:latin typeface="Arial"/>
              </a:rPr>
              <a:t>Open source · LSPS2 Beyond Mobile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